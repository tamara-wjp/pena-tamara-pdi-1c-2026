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49BBB-3F86-F7F4-1C78-B32280E0A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6C7B25-C1A6-C88E-42F2-8B2739C55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A800E7-8968-A301-1E66-790AD6BC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252703-7652-3496-D4AC-BAE93DF3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5FB716-4B64-514B-4A9C-04072F97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610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76F18-6A8A-603E-B54F-DA60AC23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FBC9FE-F12B-D956-61B3-A30FA95B5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780B62-CA95-A52A-E3C1-3340ECEA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56469E-364B-2E01-0C97-900D8C68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FB43A-8173-4779-4061-58C2911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224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AB3AC-9C89-80BC-50D2-59779C3F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9065F5-DB0A-AEAD-A086-23BC84FD1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FCE250-F046-7023-49FF-553B9BDB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B73592-7F9F-855E-4676-E061D9EA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00F411-F0E7-E198-5B34-AFB82ACE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812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47953-3CCA-6545-31FC-55FF0AA3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565B3-2CBB-A3ED-6621-99C81ED85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2EE19D-51CE-105B-86F1-70F43D98A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FB96E5-6411-2CAD-F4F2-C1964131F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A7A48-5FD6-0E2C-1FBA-C6C97290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C05F89-259A-0CF1-AD98-9E2FB6CB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5144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AAA08-93EA-F23E-953A-A9D2FBDB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62DA19-86CF-7701-BF87-84AA75300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F61EA0-8D43-C325-F5C0-2583A6F08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3D15BB-3993-7DBA-59CB-5C4ECA6C6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EF23BE-806E-1004-0F3B-49D115155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072C0F-D23D-FAA4-6D2D-2848B2D4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106963-31E1-33EE-6152-B1B02899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BA8950-7E20-0901-A81F-0FA1B4DA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851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D7DD1-4FF7-ED79-993F-30945295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EFF649-8391-D3F4-AC9F-AEEBE52A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FD180E-D251-6CE5-EE56-103A29D3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71D33C-8D2B-BCEB-38ED-02DF7039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342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EA4C6C-4FA1-A089-54FE-E0886B93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A75B36-703D-FBAC-3369-3F69B71F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F9B3CF-3421-B5F5-A9A9-B6C3FEB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44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F11A7-170F-12DF-F932-F90069BB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E4AB82-A0D1-7CE1-B0FB-5A2022687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2299C9-5965-CBAA-6E09-BA70AF704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B0DDDE-F1AB-E6C9-D9B0-7E6F8FB6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282145-1D1F-964A-C8A5-4A4894396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3D7989-4BE5-6E36-B209-51DADDB4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161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84D42-72A3-839B-692B-0EE60409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2EDCA9-BFFE-22EF-8E94-E10FD65FA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BA7063-3849-BD09-C370-CF2863440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C37315-C424-D1C1-255C-C2B6F6BE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6D6588-A3F3-FE14-6020-28B97022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CAD936-DB8E-07EB-023B-D2AFC427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889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5A37E-3DE1-1A34-B399-51D16EBD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86C730-0059-4C0C-CF40-ACCA2BF1E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CD89C-A80F-17C6-882C-5E51ECE1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D34B2E-F0E5-3EE2-5059-8561C535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086F1-8D58-E145-BC12-FD631889D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354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A535B8-ACED-887B-DA52-492C342B0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A16402-F5FA-747B-32A3-D20F704FA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232BD6-60A8-6637-C643-E9926175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2D9E31-1A8E-A4B3-F705-E74B81A1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575CD-E31D-FB38-800F-87EFEC24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43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929DAF-D8E1-A9AB-22EA-CF922DEA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75DC91-F8D8-2BD3-4078-1A74A35FC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4CF2A1-6C2E-750B-0227-6DE43F7EA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7AEA3-863D-4560-AD6C-ECD51A3DDF7A}" type="datetimeFigureOut">
              <a:rPr lang="es-AR" smtClean="0"/>
              <a:t>19/5/2026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40C486-3143-7DE5-5347-5745AA78B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FB6A3-9E75-3B4C-0195-AF1378F10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75652-A3D9-46F7-982E-607231EF87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782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30798-82BD-5D04-A9E9-E15498277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267" y="0"/>
            <a:ext cx="9144000" cy="2387600"/>
          </a:xfrm>
        </p:spPr>
        <p:txBody>
          <a:bodyPr>
            <a:normAutofit/>
          </a:bodyPr>
          <a:lstStyle/>
          <a:p>
            <a:r>
              <a:rPr lang="es-ES" dirty="0"/>
              <a:t>DE LA CAMARA OSCURA A LA IMAGEN INTENCIONAL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9003F0-1583-E391-5210-8106CFA07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7267" y="2806344"/>
            <a:ext cx="9144000" cy="893985"/>
          </a:xfrm>
        </p:spPr>
        <p:txBody>
          <a:bodyPr/>
          <a:lstStyle/>
          <a:p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OPTICA, 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</a:rPr>
              <a:t>COMPOSICION Y POSTPROCESO EN FOTOGRAFIA</a:t>
            </a:r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0C0BEE4-A596-EEC6-BDF5-DE465A899203}"/>
              </a:ext>
            </a:extLst>
          </p:cNvPr>
          <p:cNvSpPr txBox="1">
            <a:spLocks/>
          </p:cNvSpPr>
          <p:nvPr/>
        </p:nvSpPr>
        <p:spPr>
          <a:xfrm>
            <a:off x="1387267" y="4007978"/>
            <a:ext cx="9144000" cy="1444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Alumno: Tamara Peña</a:t>
            </a:r>
          </a:p>
          <a:p>
            <a:r>
              <a:rPr lang="es-ES" dirty="0"/>
              <a:t>Profesor: Matias Barreto</a:t>
            </a:r>
          </a:p>
          <a:p>
            <a:r>
              <a:rPr lang="es-ES" dirty="0"/>
              <a:t>Materia: Procesamiento de imágenes digitales</a:t>
            </a:r>
          </a:p>
          <a:p>
            <a:r>
              <a:rPr lang="es-ES" dirty="0"/>
              <a:t>Comisión: 1C 2026</a:t>
            </a:r>
          </a:p>
          <a:p>
            <a:r>
              <a:rPr lang="es-ES" dirty="0"/>
              <a:t>Fecha: Mayo 2026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0784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381D7-AA17-33DF-3E9B-3ACECD61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50" y="108469"/>
            <a:ext cx="11441046" cy="1145136"/>
          </a:xfrm>
        </p:spPr>
        <p:txBody>
          <a:bodyPr>
            <a:normAutofit fontScale="90000"/>
          </a:bodyPr>
          <a:lstStyle/>
          <a:p>
            <a:r>
              <a:rPr lang="es-ES" dirty="0"/>
              <a:t>Parte 1 – Cámara oscura y procesamiento digital</a:t>
            </a:r>
            <a:br>
              <a:rPr lang="es-ES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4BB8C0-901C-A215-E091-39B15EF5E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350" y="746888"/>
            <a:ext cx="10220058" cy="423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Construcción y registro de la cámara oscura</a:t>
            </a:r>
            <a:endParaRPr lang="es-AR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095EDF8-4DE0-B277-0155-F5F95F6F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74" y="1546788"/>
            <a:ext cx="1626372" cy="216849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41A779A-DF2C-E226-F740-AF6FC6F69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126" y="1649688"/>
            <a:ext cx="2155190" cy="196269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535C120-9130-8C1B-B89B-CDF6CEB36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94" y="1551453"/>
            <a:ext cx="3386782" cy="187754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119133C-6815-7DD9-A775-16D20C6DD85C}"/>
              </a:ext>
            </a:extLst>
          </p:cNvPr>
          <p:cNvSpPr txBox="1"/>
          <p:nvPr/>
        </p:nvSpPr>
        <p:spPr>
          <a:xfrm>
            <a:off x="4551463" y="4811359"/>
            <a:ext cx="7284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La cámara oscura construida funciona a partir del comportamiento de la luz al atravesar un pequeño orificio. Como la luz se desplaza en línea recta, los rayos ingresan a la caja y forman una imagen invertida sobre una pantalla ubicada en el centro del dispositivo, que actúa como plano de imagen. Esto ocurre porque los rayos provenientes de la parte superior e inferior del objeto se cruzan al pasar por la abertura. Además, el tamaño del orificio influye directamente en el resultado obtenido: una apertura pequeña mejora la nitidez de la proyección, aunque deja pasar menos luz, mientras que una apertura mayor genera una imagen más luminosa pero menos definida.</a:t>
            </a:r>
            <a:endParaRPr lang="es-AR" sz="14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353CECC-33EF-3958-E5A8-01438E5BB0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66499" y="3338413"/>
            <a:ext cx="2862669" cy="3900965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C1939F2C-0B14-DDAB-11DA-EFA377A63662}"/>
              </a:ext>
            </a:extLst>
          </p:cNvPr>
          <p:cNvSpPr txBox="1"/>
          <p:nvPr/>
        </p:nvSpPr>
        <p:spPr>
          <a:xfrm>
            <a:off x="4401241" y="1725804"/>
            <a:ext cx="354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Imágenes del dispositivo construido</a:t>
            </a:r>
            <a:endParaRPr lang="es-AR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5AF0FB-E6DA-5624-D4A8-B3D2E57614CE}"/>
              </a:ext>
            </a:extLst>
          </p:cNvPr>
          <p:cNvSpPr txBox="1"/>
          <p:nvPr/>
        </p:nvSpPr>
        <p:spPr>
          <a:xfrm>
            <a:off x="8193694" y="3153397"/>
            <a:ext cx="359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Esquema simple del funcionamiento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6902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05CEB-3DB8-27C9-0141-FAD3D71E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667" y="18255"/>
            <a:ext cx="10815415" cy="1325563"/>
          </a:xfrm>
        </p:spPr>
        <p:txBody>
          <a:bodyPr/>
          <a:lstStyle/>
          <a:p>
            <a:r>
              <a:rPr lang="es-ES" dirty="0"/>
              <a:t>Captura con cámara oscura + ecualización HSV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91FFE7D-B8CF-2F1A-5B05-4E0614F12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70" y="1557054"/>
            <a:ext cx="6130317" cy="240454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CE6EDCC-286F-4D67-C625-CD850292D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70" y="3961597"/>
            <a:ext cx="6130317" cy="272862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85CCEFF-D0E2-32C5-092F-3E4E19A45C88}"/>
              </a:ext>
            </a:extLst>
          </p:cNvPr>
          <p:cNvSpPr txBox="1"/>
          <p:nvPr/>
        </p:nvSpPr>
        <p:spPr>
          <a:xfrm>
            <a:off x="6442950" y="1557054"/>
            <a:ext cx="5986639" cy="258532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s-ES" dirty="0"/>
              <a:t>La ecualización del canal V permitió mejorar el brillo y el </a:t>
            </a:r>
          </a:p>
          <a:p>
            <a:r>
              <a:rPr lang="es-ES" dirty="0"/>
              <a:t>contraste de la imagen tomada con cámara oscura. </a:t>
            </a:r>
          </a:p>
          <a:p>
            <a:r>
              <a:rPr lang="es-ES" dirty="0"/>
              <a:t>El objeto principal se distingue con mayor claridad y el </a:t>
            </a:r>
          </a:p>
          <a:p>
            <a:r>
              <a:rPr lang="es-ES" dirty="0"/>
              <a:t>histograma muestra una distribución más amplia de</a:t>
            </a:r>
          </a:p>
          <a:p>
            <a:r>
              <a:rPr lang="es-ES" dirty="0"/>
              <a:t> intensidades. Sin embargo, también se hizo más visible el </a:t>
            </a:r>
          </a:p>
          <a:p>
            <a:r>
              <a:rPr lang="es-ES" dirty="0"/>
              <a:t>ruido y algunas zonas perdieron naturalidad. Se trabajó sobre </a:t>
            </a:r>
          </a:p>
          <a:p>
            <a:r>
              <a:rPr lang="es-ES" dirty="0"/>
              <a:t>el canal V porque en HSV representa el valor o brillo de la </a:t>
            </a:r>
          </a:p>
          <a:p>
            <a:r>
              <a:rPr lang="es-ES" dirty="0"/>
              <a:t>imagen, evitando alterar directamente los colores como </a:t>
            </a:r>
          </a:p>
          <a:p>
            <a:r>
              <a:rPr lang="es-ES" dirty="0"/>
              <a:t>podría pasar al ecualizar RGB por separado.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5063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CBAC1-518B-2FA1-7AEA-72323FC43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15" y="83115"/>
            <a:ext cx="10515600" cy="523638"/>
          </a:xfrm>
        </p:spPr>
        <p:txBody>
          <a:bodyPr/>
          <a:lstStyle/>
          <a:p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Parte 2 — Composición y lenguaje visual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549219-01D9-B296-4B0E-5D104062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15" y="606753"/>
            <a:ext cx="10515600" cy="444380"/>
          </a:xfrm>
        </p:spPr>
        <p:txBody>
          <a:bodyPr/>
          <a:lstStyle/>
          <a:p>
            <a:pPr marL="0" indent="0">
              <a:buNone/>
            </a:pPr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Fotografía de simplicidad visual</a:t>
            </a:r>
            <a:endParaRPr lang="es-AR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CFC6336-791B-F243-9C2C-9C015CA3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219"/>
          <a:stretch/>
        </p:blipFill>
        <p:spPr>
          <a:xfrm>
            <a:off x="3871601" y="1130391"/>
            <a:ext cx="3594130" cy="486727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886AC7E-2D26-F3EC-EDE8-BE04E43EE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219"/>
          <a:stretch/>
        </p:blipFill>
        <p:spPr>
          <a:xfrm>
            <a:off x="277471" y="1130391"/>
            <a:ext cx="3594130" cy="486727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488049E-B474-6156-EC16-F551BB6C60E8}"/>
              </a:ext>
            </a:extLst>
          </p:cNvPr>
          <p:cNvSpPr txBox="1"/>
          <p:nvPr/>
        </p:nvSpPr>
        <p:spPr>
          <a:xfrm>
            <a:off x="8101002" y="1578869"/>
            <a:ext cx="338259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 realizó un acercamiento  </a:t>
            </a:r>
          </a:p>
          <a:p>
            <a:r>
              <a:rPr lang="es-ES" dirty="0"/>
              <a:t>hacia el gato y luego se convirtió </a:t>
            </a:r>
          </a:p>
          <a:p>
            <a:r>
              <a:rPr lang="es-ES" dirty="0"/>
              <a:t>la imagen a escala de grises. En la </a:t>
            </a:r>
          </a:p>
          <a:p>
            <a:r>
              <a:rPr lang="es-ES" dirty="0"/>
              <a:t>imagen original, los colores del </a:t>
            </a:r>
          </a:p>
          <a:p>
            <a:r>
              <a:rPr lang="es-ES" dirty="0"/>
              <a:t>fondo, la pared y algunos detalles </a:t>
            </a:r>
          </a:p>
          <a:p>
            <a:r>
              <a:rPr lang="es-ES" dirty="0"/>
              <a:t>del entorno podían distraer la </a:t>
            </a:r>
          </a:p>
          <a:p>
            <a:r>
              <a:rPr lang="es-ES" dirty="0"/>
              <a:t>atención. Al eliminar el color, </a:t>
            </a:r>
          </a:p>
          <a:p>
            <a:r>
              <a:rPr lang="es-ES" dirty="0"/>
              <a:t>esos elementos pierden </a:t>
            </a:r>
          </a:p>
          <a:p>
            <a:r>
              <a:rPr lang="es-ES" dirty="0"/>
              <a:t>protagonismo y la lectura se </a:t>
            </a:r>
          </a:p>
          <a:p>
            <a:r>
              <a:rPr lang="es-ES" dirty="0"/>
              <a:t>apoya más en el contraste, las </a:t>
            </a:r>
          </a:p>
          <a:p>
            <a:r>
              <a:rPr lang="es-ES" dirty="0"/>
              <a:t>formas y la posición del sujeto. </a:t>
            </a:r>
          </a:p>
          <a:p>
            <a:r>
              <a:rPr lang="es-ES" dirty="0"/>
              <a:t>El gato se identifica con mayor </a:t>
            </a:r>
          </a:p>
          <a:p>
            <a:r>
              <a:rPr lang="es-ES" dirty="0"/>
              <a:t>claridad como elemento principal </a:t>
            </a:r>
          </a:p>
          <a:p>
            <a:r>
              <a:rPr lang="es-ES" dirty="0"/>
              <a:t>de la composición.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333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93095-6B94-53B0-0327-BD857B7A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8" y="257422"/>
            <a:ext cx="10515600" cy="540483"/>
          </a:xfrm>
        </p:spPr>
        <p:txBody>
          <a:bodyPr/>
          <a:lstStyle/>
          <a:p>
            <a:r>
              <a:rPr lang="es-A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 Reencuadre y reinterpretación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9185DB8-1E02-8E2E-A1C2-DF3A0B27D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912" t="14" b="1"/>
          <a:stretch/>
        </p:blipFill>
        <p:spPr>
          <a:xfrm>
            <a:off x="5594838" y="962853"/>
            <a:ext cx="2205623" cy="477403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A4CF6AD-0CDB-E468-72AE-426D2E82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30" r="38053"/>
          <a:stretch/>
        </p:blipFill>
        <p:spPr>
          <a:xfrm>
            <a:off x="3494586" y="962853"/>
            <a:ext cx="2233246" cy="477403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DD75485-83BF-073E-B776-CF838C74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793"/>
          <a:stretch/>
        </p:blipFill>
        <p:spPr>
          <a:xfrm>
            <a:off x="0" y="962853"/>
            <a:ext cx="3560885" cy="477403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A61B76C-A3AC-C6DB-25A0-8C0BE1A4301F}"/>
              </a:ext>
            </a:extLst>
          </p:cNvPr>
          <p:cNvSpPr txBox="1"/>
          <p:nvPr/>
        </p:nvSpPr>
        <p:spPr>
          <a:xfrm>
            <a:off x="7770657" y="1226210"/>
            <a:ext cx="447936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 partir de una fotografía amplia se realizaron</a:t>
            </a:r>
          </a:p>
          <a:p>
            <a:r>
              <a:rPr lang="es-ES" dirty="0"/>
              <a:t> dos reencuadres distintos. En el recorte A, </a:t>
            </a:r>
          </a:p>
          <a:p>
            <a:r>
              <a:rPr lang="es-ES" dirty="0"/>
              <a:t>la atención pasa a estar puesta en la bandera,</a:t>
            </a:r>
          </a:p>
          <a:p>
            <a:r>
              <a:rPr lang="es-ES" dirty="0"/>
              <a:t> por lo que la imagen toma un sentido más</a:t>
            </a:r>
          </a:p>
          <a:p>
            <a:r>
              <a:rPr lang="es-ES" dirty="0"/>
              <a:t> simbólico e institucional. En el recorte B, el </a:t>
            </a:r>
          </a:p>
          <a:p>
            <a:r>
              <a:rPr lang="es-ES" dirty="0"/>
              <a:t>sujeto principal cambia a la torre del reloj,</a:t>
            </a:r>
          </a:p>
          <a:p>
            <a:r>
              <a:rPr lang="es-ES" dirty="0"/>
              <a:t> destacando más la arquitectura y el espacio</a:t>
            </a:r>
          </a:p>
          <a:p>
            <a:r>
              <a:rPr lang="es-ES" dirty="0"/>
              <a:t> urbano. Con cada </a:t>
            </a:r>
            <a:r>
              <a:rPr lang="es-ES" dirty="0" err="1"/>
              <a:t>crop</a:t>
            </a:r>
            <a:r>
              <a:rPr lang="es-ES" dirty="0"/>
              <a:t> desaparece parte del </a:t>
            </a:r>
          </a:p>
          <a:p>
            <a:r>
              <a:rPr lang="es-ES" dirty="0"/>
              <a:t>contexto general: en el recorte de la bandera </a:t>
            </a:r>
          </a:p>
          <a:p>
            <a:r>
              <a:rPr lang="es-ES" dirty="0"/>
              <a:t>se pierde protagonismo de la torre, y en el</a:t>
            </a:r>
          </a:p>
          <a:p>
            <a:r>
              <a:rPr lang="es-ES" dirty="0"/>
              <a:t> recorte de la torre se elimina por completo </a:t>
            </a:r>
          </a:p>
          <a:p>
            <a:r>
              <a:rPr lang="es-ES" dirty="0"/>
              <a:t>la bandera. Esto demuestra que el encuadre</a:t>
            </a:r>
          </a:p>
          <a:p>
            <a:r>
              <a:rPr lang="es-ES" dirty="0"/>
              <a:t> modifica qué elemento se vuelve importante</a:t>
            </a:r>
          </a:p>
          <a:p>
            <a:r>
              <a:rPr lang="es-ES" dirty="0"/>
              <a:t> y cambia la interpretación de la misma</a:t>
            </a:r>
          </a:p>
          <a:p>
            <a:r>
              <a:rPr lang="es-ES" dirty="0"/>
              <a:t> imagen original.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1712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860CF-AC53-629D-7E7F-2EA6E0E3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06" y="194209"/>
            <a:ext cx="10515600" cy="386905"/>
          </a:xfrm>
        </p:spPr>
        <p:txBody>
          <a:bodyPr/>
          <a:lstStyle/>
          <a:p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6. Punto de vista y construcción narrativa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55DD74-E3CA-6980-9167-6320F8952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2" y="825872"/>
            <a:ext cx="3730061" cy="2797546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BF3852C-9DBC-132A-A7B1-2701325B3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815" y="581114"/>
            <a:ext cx="3400158" cy="453354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FB5E301-1EB4-412C-0A2C-C5A6FF9B9E04}"/>
              </a:ext>
            </a:extLst>
          </p:cNvPr>
          <p:cNvSpPr txBox="1"/>
          <p:nvPr/>
        </p:nvSpPr>
        <p:spPr>
          <a:xfrm>
            <a:off x="217027" y="3825657"/>
            <a:ext cx="985404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 fotografió el mismo sujeto desde dos puntos de vista distintos. </a:t>
            </a:r>
          </a:p>
          <a:p>
            <a:r>
              <a:rPr lang="es-ES" dirty="0"/>
              <a:t>En la Vista A, el primer plano permite ver mejor las texturas del juguete, </a:t>
            </a:r>
          </a:p>
          <a:p>
            <a:r>
              <a:rPr lang="es-ES" dirty="0"/>
              <a:t>la forma de las piezas y la expresión generada por los ojos. </a:t>
            </a:r>
          </a:p>
          <a:p>
            <a:r>
              <a:rPr lang="es-ES" dirty="0"/>
              <a:t>La cámara cercana hace que el objeto se perciba más grande, llamativo y protagonista.</a:t>
            </a:r>
          </a:p>
          <a:p>
            <a:r>
              <a:rPr lang="es-ES" dirty="0"/>
              <a:t>En la Vista B, el plano lejano aporta información contextual nueva: se ve el banco de </a:t>
            </a:r>
          </a:p>
          <a:p>
            <a:r>
              <a:rPr lang="es-ES" dirty="0"/>
              <a:t>plástico, la pared y una lapicera que funciona como referencia de escala. </a:t>
            </a:r>
          </a:p>
          <a:p>
            <a:r>
              <a:rPr lang="es-ES" dirty="0"/>
              <a:t>Esa vista permite entender mejor el tamaño real del objeto y el espacio donde está ubicado.</a:t>
            </a:r>
          </a:p>
          <a:p>
            <a:r>
              <a:rPr lang="es-ES" dirty="0"/>
              <a:t>Como imagen final se elige la Vista A, porque resulta visualmente más interesante. </a:t>
            </a:r>
          </a:p>
          <a:p>
            <a:r>
              <a:rPr lang="es-ES" dirty="0"/>
              <a:t>Aunque la Vista B aporta más contexto, el primer plano genera una relación más directa con el sujeto y </a:t>
            </a:r>
          </a:p>
          <a:p>
            <a:r>
              <a:rPr lang="es-ES" dirty="0"/>
              <a:t>destaca mejor sus detalles.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1275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5B54E-B927-B0BB-A751-60BE031F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74" y="208674"/>
            <a:ext cx="10515600" cy="472363"/>
          </a:xfrm>
        </p:spPr>
        <p:txBody>
          <a:bodyPr/>
          <a:lstStyle/>
          <a:p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7. Fotografía basada en la luz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3CDB6-4B64-C717-C054-C5AB33F97840}"/>
              </a:ext>
            </a:extLst>
          </p:cNvPr>
          <p:cNvSpPr txBox="1"/>
          <p:nvPr/>
        </p:nvSpPr>
        <p:spPr>
          <a:xfrm>
            <a:off x="6507294" y="1671799"/>
            <a:ext cx="57588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 fotografía fue tomada cerca de las 9 de la mañana, </a:t>
            </a:r>
          </a:p>
          <a:p>
            <a:r>
              <a:rPr lang="es-ES" dirty="0"/>
              <a:t>usando luz natural del sol que entraba por una ventana. </a:t>
            </a:r>
          </a:p>
          <a:p>
            <a:r>
              <a:rPr lang="es-ES" dirty="0"/>
              <a:t>La luz llega de forma frontal-lateral sobre el rostro del gato,</a:t>
            </a:r>
          </a:p>
          <a:p>
            <a:r>
              <a:rPr lang="es-ES" dirty="0"/>
              <a:t> iluminando una parte de la cara y dejando otras zonas en </a:t>
            </a:r>
          </a:p>
          <a:p>
            <a:r>
              <a:rPr lang="es-ES" dirty="0"/>
              <a:t>sombra. Esta iluminación revela la textura del pelaje, </a:t>
            </a:r>
          </a:p>
          <a:p>
            <a:r>
              <a:rPr lang="es-ES" dirty="0"/>
              <a:t>los bigotes y el volumen del rostro, mientras que el fondo </a:t>
            </a:r>
          </a:p>
          <a:p>
            <a:r>
              <a:rPr lang="es-ES" dirty="0"/>
              <a:t>oscuro queda menos visible. El contraste entre las zonas </a:t>
            </a:r>
          </a:p>
          <a:p>
            <a:r>
              <a:rPr lang="es-ES" dirty="0"/>
              <a:t>iluminadas y las sombras genera una atmósfera más íntima </a:t>
            </a:r>
          </a:p>
          <a:p>
            <a:r>
              <a:rPr lang="es-ES" dirty="0"/>
              <a:t>y dramática. La luz no solo permite ver al sujeto, sino que</a:t>
            </a:r>
          </a:p>
          <a:p>
            <a:r>
              <a:rPr lang="es-ES" dirty="0"/>
              <a:t> también organiza la imagen y dirige la atención hacia la</a:t>
            </a:r>
          </a:p>
          <a:p>
            <a:r>
              <a:rPr lang="es-ES" dirty="0"/>
              <a:t> mirada del gato.</a:t>
            </a:r>
            <a:endParaRPr lang="es-AR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4EC44D3D-1D23-7326-05DE-B13F36A01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889"/>
            <a:ext cx="6233535" cy="4155690"/>
          </a:xfrm>
        </p:spPr>
      </p:pic>
    </p:spTree>
    <p:extLst>
      <p:ext uri="{BB962C8B-B14F-4D97-AF65-F5344CB8AC3E}">
        <p14:creationId xmlns:p14="http://schemas.microsoft.com/office/powerpoint/2010/main" val="429387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EE37C-A03B-74EE-B1EE-A754EA20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36538"/>
            <a:ext cx="10515600" cy="577850"/>
          </a:xfrm>
        </p:spPr>
        <p:txBody>
          <a:bodyPr/>
          <a:lstStyle/>
          <a:p>
            <a:r>
              <a:rPr lang="es-A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8. Selección crítica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5544BA-DC4B-3D1D-5132-9B067D3077A2}"/>
              </a:ext>
            </a:extLst>
          </p:cNvPr>
          <p:cNvSpPr txBox="1"/>
          <p:nvPr/>
        </p:nvSpPr>
        <p:spPr>
          <a:xfrm>
            <a:off x="352425" y="1005457"/>
            <a:ext cx="102084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Las imágenes descartadas fueron reemplazadas porque no reforzaban tan bien la intención de cada punto. </a:t>
            </a:r>
          </a:p>
          <a:p>
            <a:r>
              <a:rPr lang="es-ES" dirty="0"/>
              <a:t>El gato sobre el auto perdía protagonismo en escala de grises, la primera bandera no mostraba suficiente </a:t>
            </a:r>
          </a:p>
          <a:p>
            <a:r>
              <a:rPr lang="es-ES" dirty="0"/>
              <a:t>movimiento y, para la fotografía basada en la luz, el ave tenía una iluminación demasiado pareja mientras </a:t>
            </a:r>
          </a:p>
          <a:p>
            <a:r>
              <a:rPr lang="es-ES" dirty="0"/>
              <a:t>que otra toma del gato gris incluía demasiado fondo. Las imágenes elegidas permiten resolver mejor cada </a:t>
            </a:r>
          </a:p>
          <a:p>
            <a:r>
              <a:rPr lang="es-ES" dirty="0"/>
              <a:t>consigna: sujeto más claro, reencuadre más expresivo y luz más marcada.</a:t>
            </a:r>
            <a:endParaRPr lang="es-AR" dirty="0"/>
          </a:p>
          <a:p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943056C-85B6-DA8E-0536-BFE791D43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374" y="4098218"/>
            <a:ext cx="3589867" cy="25232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60EBCC-F12E-1082-AB90-0612C5800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241" y="3771152"/>
            <a:ext cx="2076736" cy="275978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3C1D2C-8115-7D61-EBFB-DBC03EBC2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910" y="3771152"/>
            <a:ext cx="2076736" cy="275978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386BE6D-CE39-51A9-9A2D-08294E8FCB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549" y="3633707"/>
            <a:ext cx="1631139" cy="289722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2C8E87E-6ADC-82E2-C3C4-90FED96D5C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7" y="3506762"/>
            <a:ext cx="1699207" cy="302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37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</TotalTime>
  <Words>870</Words>
  <Application>Microsoft Office PowerPoint</Application>
  <PresentationFormat>Panorámica</PresentationFormat>
  <Paragraphs>83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DE LA CAMARA OSCURA A LA IMAGEN INTENCIONAL</vt:lpstr>
      <vt:lpstr>Parte 1 – Cámara oscura y procesamiento digital </vt:lpstr>
      <vt:lpstr>Captura con cámara oscura + ecualización HSV</vt:lpstr>
      <vt:lpstr>Parte 2 — Composición y lenguaje visual</vt:lpstr>
      <vt:lpstr>5. Reencuadre y reinterpretación</vt:lpstr>
      <vt:lpstr>6. Punto de vista y construcción narrativa</vt:lpstr>
      <vt:lpstr>7. Fotografía basada en la luz</vt:lpstr>
      <vt:lpstr>8. Selección crítica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Peña</dc:creator>
  <cp:lastModifiedBy>Tamara Peña</cp:lastModifiedBy>
  <cp:revision>2</cp:revision>
  <dcterms:created xsi:type="dcterms:W3CDTF">2026-05-16T22:13:56Z</dcterms:created>
  <dcterms:modified xsi:type="dcterms:W3CDTF">2026-05-20T00:04:45Z</dcterms:modified>
</cp:coreProperties>
</file>