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6" r:id="rId5"/>
    <p:sldId id="257" r:id="rId6"/>
    <p:sldId id="261" r:id="rId7"/>
    <p:sldId id="262" r:id="rId8"/>
    <p:sldId id="267" r:id="rId9"/>
    <p:sldId id="258" r:id="rId10"/>
    <p:sldId id="263" r:id="rId11"/>
    <p:sldId id="264" r:id="rId12"/>
    <p:sldId id="268"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showGuides="1">
      <p:cViewPr varScale="1">
        <p:scale>
          <a:sx n="101" d="100"/>
          <a:sy n="101" d="100"/>
        </p:scale>
        <p:origin x="356" y="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53D51-AD86-173D-51F2-AE208F2BB4E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87F0FA00-6F8C-8F31-816A-AA4A690DAD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F746BDF5-4193-53F2-B8BB-A1EF4445F36E}"/>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23549C05-CDB1-9D70-0517-8C882DC3470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7001D00-6CC3-D4B3-A030-4260BCD83EE7}"/>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3189654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703D49-9DAE-90C4-1895-93CAB8B7265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0B9DBC4-6843-31AC-CFCA-49638A34208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27251E-C688-B5EF-2E70-243A0DC8BFCD}"/>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24AE0A99-21DD-8906-D1CE-A7EDAC82085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2BCFB4E-2112-92F9-23B7-E349BAC95A3E}"/>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95937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51209A-DA91-F712-5FBB-3D64637EF3E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1DF00BEA-ABA1-079D-DCB3-F5A47C2F15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89B4A21-B49F-9E65-9CC6-A5764C90B2B6}"/>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A9C47199-65F7-41A5-2C6A-A33C904B7A6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05179190-0A2C-054F-7F38-6152ED9B888C}"/>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190828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A5811-CB89-DB30-2979-83DD4BDE717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4F888C0-C242-FC21-3460-3824313495E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03F173A7-0B6C-F495-D26E-6C82BFDD387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2164CB53-C1FA-53B3-8E07-C143A80BB4EE}"/>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6" name="Marcador de pie de página 5">
            <a:extLst>
              <a:ext uri="{FF2B5EF4-FFF2-40B4-BE49-F238E27FC236}">
                <a16:creationId xmlns:a16="http://schemas.microsoft.com/office/drawing/2014/main" id="{C7BE6888-E44F-E78F-AFE6-CED60A69672D}"/>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B151EFB-3E86-1EA9-63F0-F84308835503}"/>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2380400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C3EB55-841C-3FE5-0D6A-FE9DE164C22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E65DFAA3-6FC2-4FAD-87A2-DF59D509E1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9942FC8-0AF2-B03C-3095-C2E568424B8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4C593A43-8F88-A2B2-B131-C76DE6590B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EE3FD3A-87E1-4CE4-C324-B5350E76FC8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FF3B26A0-2AF1-DA21-15ED-42A770F5F8A9}"/>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8" name="Marcador de pie de página 7">
            <a:extLst>
              <a:ext uri="{FF2B5EF4-FFF2-40B4-BE49-F238E27FC236}">
                <a16:creationId xmlns:a16="http://schemas.microsoft.com/office/drawing/2014/main" id="{1C3AF166-B9AD-C44F-30F7-F28B400CFBA4}"/>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7CE033EF-58D3-FB0A-56C8-AF491A6607DC}"/>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577089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3646C3-1876-4709-5A17-4BD962A2B5F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4D73C60B-F318-15C1-94F1-EB038C3DA903}"/>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4" name="Marcador de pie de página 3">
            <a:extLst>
              <a:ext uri="{FF2B5EF4-FFF2-40B4-BE49-F238E27FC236}">
                <a16:creationId xmlns:a16="http://schemas.microsoft.com/office/drawing/2014/main" id="{2DF27760-C981-15A2-175D-591B2B958602}"/>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3829365E-E840-BAA1-6928-BC3CE9011B21}"/>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2723833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D1996AB-A4AC-AD68-DD77-B2836212FBF2}"/>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3" name="Marcador de pie de página 2">
            <a:extLst>
              <a:ext uri="{FF2B5EF4-FFF2-40B4-BE49-F238E27FC236}">
                <a16:creationId xmlns:a16="http://schemas.microsoft.com/office/drawing/2014/main" id="{103C9BA5-3389-91BE-6B78-439FBA438072}"/>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C7CC5ABF-29C9-E99D-3B7C-6225B9352CE3}"/>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2279656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EF26F8-3004-51F0-7E24-244D540401E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2C06D89B-A616-117D-764E-0F7E05EB79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C2353BE1-3A38-D52E-98DE-21CC4147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4949876-DEDA-E1EC-FDA3-51CDA5E2F1C3}"/>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6" name="Marcador de pie de página 5">
            <a:extLst>
              <a:ext uri="{FF2B5EF4-FFF2-40B4-BE49-F238E27FC236}">
                <a16:creationId xmlns:a16="http://schemas.microsoft.com/office/drawing/2014/main" id="{DA23A96F-1D0E-3BB3-10D0-B504F90569E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DCEFC854-9171-11EF-3118-7A5DB7A087DE}"/>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3104953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9B841E-47BD-5E8C-6B20-CC64FEC02E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C0490AA2-2152-E139-6A90-BA7B5A5AA8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A2740929-6A0A-26BC-2FF9-2B1C33BCD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24F6D34-6F65-A341-23A4-D37A6EFFDFD6}"/>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6" name="Marcador de pie de página 5">
            <a:extLst>
              <a:ext uri="{FF2B5EF4-FFF2-40B4-BE49-F238E27FC236}">
                <a16:creationId xmlns:a16="http://schemas.microsoft.com/office/drawing/2014/main" id="{EC555C2B-91FB-ABAF-7D01-ABA7C7FD67A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9B8940D-181C-963D-DD34-FA98EA74CEF6}"/>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3614695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60563-1D21-32B4-1C69-77951DE4CDD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C843346D-2503-B0DD-3443-A9D27EB0F8A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62EB0B74-94EB-D5A8-8892-6B18632A4D74}"/>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420FD1D0-36BC-0F82-1F1C-5ECA705CB94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555BE45-E9BC-CF07-86C3-B9AFDF5FA99C}"/>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4044755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86BF687-A881-0CF3-6AF1-A1C2CD066A0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E533D724-4DB8-405D-1605-538DCE6412F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9A66365-72C2-8A91-9724-8942C9C25ACE}"/>
              </a:ext>
            </a:extLst>
          </p:cNvPr>
          <p:cNvSpPr>
            <a:spLocks noGrp="1"/>
          </p:cNvSpPr>
          <p:nvPr>
            <p:ph type="dt" sz="half" idx="10"/>
          </p:nvPr>
        </p:nvSpPr>
        <p:spPr/>
        <p:txBody>
          <a:body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5D210835-ECBF-1902-3074-F261161239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D5B7F0D-FB5E-546D-7784-4465199FC6E1}"/>
              </a:ext>
            </a:extLst>
          </p:cNvPr>
          <p:cNvSpPr>
            <a:spLocks noGrp="1"/>
          </p:cNvSpPr>
          <p:nvPr>
            <p:ph type="sldNum" sz="quarter" idx="12"/>
          </p:nvPr>
        </p:nvSpPr>
        <p:spPr/>
        <p:txBody>
          <a:bodyPr/>
          <a:lstStyle/>
          <a:p>
            <a:fld id="{67A03BA1-80E4-4129-ABDF-EE893252A909}" type="slidenum">
              <a:rPr lang="en-US" smtClean="0"/>
              <a:t>‹Nº›</a:t>
            </a:fld>
            <a:endParaRPr lang="en-US"/>
          </a:p>
        </p:txBody>
      </p:sp>
    </p:spTree>
    <p:extLst>
      <p:ext uri="{BB962C8B-B14F-4D97-AF65-F5344CB8AC3E}">
        <p14:creationId xmlns:p14="http://schemas.microsoft.com/office/powerpoint/2010/main" val="222793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10CCCB-4E75-2E58-3D24-927B16AAF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82EED4AD-5D08-386F-9924-74EAE74DA3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BC7AEB1C-00FB-3EB5-32B0-535DC0518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E1D35C-B736-4D2C-B708-13B007A51B09}" type="datetimeFigureOut">
              <a:rPr lang="en-US" smtClean="0"/>
              <a:t>4/26/2026</a:t>
            </a:fld>
            <a:endParaRPr lang="en-US"/>
          </a:p>
        </p:txBody>
      </p:sp>
      <p:sp>
        <p:nvSpPr>
          <p:cNvPr id="5" name="Marcador de pie de página 4">
            <a:extLst>
              <a:ext uri="{FF2B5EF4-FFF2-40B4-BE49-F238E27FC236}">
                <a16:creationId xmlns:a16="http://schemas.microsoft.com/office/drawing/2014/main" id="{F7307F27-E9D2-0AE6-418F-8C4C39BA6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C4652757-E698-8804-6C0B-5C9D3003C9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A03BA1-80E4-4129-ABDF-EE893252A909}" type="slidenum">
              <a:rPr lang="en-US" smtClean="0"/>
              <a:t>‹Nº›</a:t>
            </a:fld>
            <a:endParaRPr lang="en-US"/>
          </a:p>
        </p:txBody>
      </p:sp>
    </p:spTree>
    <p:extLst>
      <p:ext uri="{BB962C8B-B14F-4D97-AF65-F5344CB8AC3E}">
        <p14:creationId xmlns:p14="http://schemas.microsoft.com/office/powerpoint/2010/main" val="1035201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C041365-29A6-68E4-EDEB-3A3AE66DD3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5249364" cy="3554569"/>
          </a:xfrm>
          <a:prstGeom prst="rect">
            <a:avLst/>
          </a:prstGeom>
        </p:spPr>
      </p:pic>
      <p:sp>
        <p:nvSpPr>
          <p:cNvPr id="10" name="CuadroTexto 9">
            <a:extLst>
              <a:ext uri="{FF2B5EF4-FFF2-40B4-BE49-F238E27FC236}">
                <a16:creationId xmlns:a16="http://schemas.microsoft.com/office/drawing/2014/main" id="{C72AE866-0DC1-477F-7F89-D66BFC8CB8E5}"/>
              </a:ext>
            </a:extLst>
          </p:cNvPr>
          <p:cNvSpPr txBox="1"/>
          <p:nvPr/>
        </p:nvSpPr>
        <p:spPr>
          <a:xfrm>
            <a:off x="5692250" y="0"/>
            <a:ext cx="5126003" cy="3046988"/>
          </a:xfrm>
          <a:prstGeom prst="rect">
            <a:avLst/>
          </a:prstGeom>
          <a:noFill/>
        </p:spPr>
        <p:txBody>
          <a:bodyPr wrap="square" rtlCol="0">
            <a:spAutoFit/>
          </a:bodyPr>
          <a:lstStyle/>
          <a:p>
            <a:r>
              <a:rPr lang="es-AR" sz="1200" dirty="0"/>
              <a:t>Problemas en la foto</a:t>
            </a:r>
          </a:p>
          <a:p>
            <a:r>
              <a:rPr lang="es-AR" sz="1200" dirty="0"/>
              <a:t>Nitidez</a:t>
            </a:r>
          </a:p>
          <a:p>
            <a:r>
              <a:rPr lang="es-AR" sz="1200" dirty="0"/>
              <a:t>Iluminación</a:t>
            </a:r>
          </a:p>
          <a:p>
            <a:r>
              <a:rPr lang="es-AR" sz="1200" dirty="0" err="1"/>
              <a:t>Ínvertida</a:t>
            </a:r>
            <a:endParaRPr lang="es-AR" sz="1200" dirty="0"/>
          </a:p>
          <a:p>
            <a:r>
              <a:rPr lang="es-AR" sz="1200" dirty="0"/>
              <a:t>Bajo contraste</a:t>
            </a:r>
          </a:p>
          <a:p>
            <a:endParaRPr lang="es-AR" sz="1200" dirty="0"/>
          </a:p>
          <a:p>
            <a:r>
              <a:rPr lang="en-US" sz="1200" b="1" dirty="0" err="1">
                <a:solidFill>
                  <a:schemeClr val="accent3"/>
                </a:solidFill>
              </a:rPr>
              <a:t>Volteo</a:t>
            </a:r>
            <a:r>
              <a:rPr lang="en-US" sz="1200" b="1" dirty="0">
                <a:solidFill>
                  <a:schemeClr val="accent3"/>
                </a:solidFill>
              </a:rPr>
              <a:t> y </a:t>
            </a:r>
            <a:r>
              <a:rPr lang="en-US" sz="1200" b="1" dirty="0" err="1">
                <a:solidFill>
                  <a:schemeClr val="accent3"/>
                </a:solidFill>
              </a:rPr>
              <a:t>rotacion</a:t>
            </a:r>
            <a:endParaRPr lang="en-US" sz="1200" b="1" dirty="0">
              <a:solidFill>
                <a:schemeClr val="accent3"/>
              </a:solidFill>
            </a:endParaRPr>
          </a:p>
          <a:p>
            <a:r>
              <a:rPr lang="en-US" sz="1200" b="1" dirty="0" err="1"/>
              <a:t>Muestreo</a:t>
            </a:r>
            <a:r>
              <a:rPr lang="en-US" sz="1200" b="1" dirty="0"/>
              <a:t> y </a:t>
            </a:r>
            <a:r>
              <a:rPr lang="en-US" sz="1200" b="1" dirty="0" err="1"/>
              <a:t>cuantizacion</a:t>
            </a:r>
            <a:endParaRPr lang="en-US" sz="1200" b="1" dirty="0"/>
          </a:p>
          <a:p>
            <a:r>
              <a:rPr lang="es-ES" sz="1200" b="1" dirty="0">
                <a:solidFill>
                  <a:schemeClr val="accent3"/>
                </a:solidFill>
              </a:rPr>
              <a:t>Ajuste lineal de brillo y contraste</a:t>
            </a:r>
          </a:p>
          <a:p>
            <a:r>
              <a:rPr lang="en-US" sz="1200" b="1" dirty="0" err="1"/>
              <a:t>Ecualizacion</a:t>
            </a:r>
            <a:r>
              <a:rPr lang="en-US" sz="1200" b="1" dirty="0"/>
              <a:t> global del </a:t>
            </a:r>
            <a:r>
              <a:rPr lang="en-US" sz="1200" b="1" dirty="0" err="1"/>
              <a:t>histograma</a:t>
            </a:r>
            <a:endParaRPr lang="en-US" sz="1200" b="1" dirty="0"/>
          </a:p>
          <a:p>
            <a:r>
              <a:rPr lang="en-US" sz="1200" b="1" dirty="0" err="1">
                <a:solidFill>
                  <a:schemeClr val="accent3"/>
                </a:solidFill>
              </a:rPr>
              <a:t>CLAHE</a:t>
            </a:r>
            <a:endParaRPr lang="en-US" sz="1200" b="1" dirty="0">
              <a:solidFill>
                <a:schemeClr val="accent3"/>
              </a:solidFill>
            </a:endParaRPr>
          </a:p>
          <a:p>
            <a:r>
              <a:rPr lang="es-ES" sz="1200" b="1" dirty="0">
                <a:solidFill>
                  <a:schemeClr val="accent3"/>
                </a:solidFill>
              </a:rPr>
              <a:t>Suavizado y </a:t>
            </a:r>
            <a:r>
              <a:rPr lang="es-ES" sz="1200" b="1" dirty="0" err="1">
                <a:solidFill>
                  <a:schemeClr val="accent3"/>
                </a:solidFill>
              </a:rPr>
              <a:t>reduccion</a:t>
            </a:r>
            <a:r>
              <a:rPr lang="es-ES" sz="1200" b="1" dirty="0">
                <a:solidFill>
                  <a:schemeClr val="accent3"/>
                </a:solidFill>
              </a:rPr>
              <a:t> de ruido</a:t>
            </a:r>
          </a:p>
          <a:p>
            <a:r>
              <a:rPr lang="en-US" sz="1200" b="1" dirty="0" err="1"/>
              <a:t>Umbralizacion</a:t>
            </a:r>
            <a:r>
              <a:rPr lang="en-US" sz="1200" b="1" dirty="0"/>
              <a:t> </a:t>
            </a:r>
            <a:r>
              <a:rPr lang="en-US" sz="1200" b="1" dirty="0" err="1"/>
              <a:t>automatica</a:t>
            </a:r>
            <a:r>
              <a:rPr lang="en-US" sz="1200" b="1" dirty="0"/>
              <a:t> con Otsu</a:t>
            </a:r>
          </a:p>
          <a:p>
            <a:r>
              <a:rPr lang="en-US" sz="1200" b="1" dirty="0" err="1"/>
              <a:t>Morfologia</a:t>
            </a:r>
            <a:r>
              <a:rPr lang="en-US" sz="1200" b="1" dirty="0"/>
              <a:t> </a:t>
            </a:r>
            <a:r>
              <a:rPr lang="en-US" sz="1200" b="1" dirty="0" err="1"/>
              <a:t>matematica</a:t>
            </a:r>
            <a:endParaRPr lang="en-US" sz="1200" b="1" dirty="0"/>
          </a:p>
          <a:p>
            <a:r>
              <a:rPr lang="en-US" sz="1200" b="1" dirty="0"/>
              <a:t>Inpainting</a:t>
            </a:r>
          </a:p>
          <a:p>
            <a:r>
              <a:rPr lang="es-ES" sz="1200" b="1" dirty="0" err="1"/>
              <a:t>Deteccion</a:t>
            </a:r>
            <a:r>
              <a:rPr lang="es-ES" sz="1200" b="1" dirty="0"/>
              <a:t> de rostros con Haar</a:t>
            </a:r>
            <a:endParaRPr lang="en-US" sz="1200" dirty="0"/>
          </a:p>
        </p:txBody>
      </p:sp>
      <p:sp>
        <p:nvSpPr>
          <p:cNvPr id="12" name="CuadroTexto 11">
            <a:extLst>
              <a:ext uri="{FF2B5EF4-FFF2-40B4-BE49-F238E27FC236}">
                <a16:creationId xmlns:a16="http://schemas.microsoft.com/office/drawing/2014/main" id="{81B9E4DC-EA4F-9BDD-C73A-97BF9DAAA18B}"/>
              </a:ext>
            </a:extLst>
          </p:cNvPr>
          <p:cNvSpPr txBox="1"/>
          <p:nvPr/>
        </p:nvSpPr>
        <p:spPr>
          <a:xfrm>
            <a:off x="45881" y="3554569"/>
            <a:ext cx="12100237" cy="3231654"/>
          </a:xfrm>
          <a:prstGeom prst="rect">
            <a:avLst/>
          </a:prstGeom>
          <a:noFill/>
        </p:spPr>
        <p:txBody>
          <a:bodyPr wrap="square">
            <a:spAutoFit/>
          </a:bodyPr>
          <a:lstStyle/>
          <a:p>
            <a:r>
              <a:rPr lang="es-ES" sz="1200" dirty="0"/>
              <a:t>las técnicas que mejor encajan son estas:</a:t>
            </a:r>
          </a:p>
          <a:p>
            <a:endParaRPr lang="es-ES" sz="1200" dirty="0"/>
          </a:p>
          <a:p>
            <a:r>
              <a:rPr lang="es-ES" sz="1200" dirty="0"/>
              <a:t>Volteo y/o rotación</a:t>
            </a:r>
          </a:p>
          <a:p>
            <a:r>
              <a:rPr lang="es-ES" sz="1200" dirty="0"/>
              <a:t>Sí. Esto es casi obligatorio si la imagen está invertida por la cámara oscura. Primero corregiría la orientación antes de evaluar mejoras.</a:t>
            </a:r>
          </a:p>
          <a:p>
            <a:endParaRPr lang="es-ES" sz="1200" dirty="0"/>
          </a:p>
          <a:p>
            <a:r>
              <a:rPr lang="es-ES" sz="1200" dirty="0"/>
              <a:t>Recorte de ROI</a:t>
            </a:r>
          </a:p>
          <a:p>
            <a:r>
              <a:rPr lang="es-ES" sz="1200" dirty="0"/>
              <a:t>Yo lo agregaría. Hay mucho fondo oscuro que no aporta. Un recorte ayuda a concentrar el análisis en la zona donde aparece la escena.</a:t>
            </a:r>
          </a:p>
          <a:p>
            <a:endParaRPr lang="es-ES" sz="1200" dirty="0"/>
          </a:p>
          <a:p>
            <a:r>
              <a:rPr lang="es-ES" sz="1200" dirty="0"/>
              <a:t>Ajuste lineal de brillo y contraste</a:t>
            </a:r>
          </a:p>
          <a:p>
            <a:r>
              <a:rPr lang="es-ES" sz="1200" dirty="0"/>
              <a:t>Sí, como estrategia simple. Sirve para levantar la imagen y mejorar contraste global, aunque puede quemar zonas claras.</a:t>
            </a:r>
          </a:p>
          <a:p>
            <a:endParaRPr lang="es-ES" sz="1200" dirty="0"/>
          </a:p>
          <a:p>
            <a:r>
              <a:rPr lang="es-ES" sz="1200" dirty="0" err="1"/>
              <a:t>CLAHE</a:t>
            </a:r>
            <a:endParaRPr lang="es-ES" sz="1200" dirty="0"/>
          </a:p>
          <a:p>
            <a:r>
              <a:rPr lang="es-ES" sz="1200" dirty="0"/>
              <a:t>Muy pertinente. Para esta imagen probablemente sea mejor que una ecualización global, porque la iluminación no es pareja. </a:t>
            </a:r>
            <a:r>
              <a:rPr lang="es-ES" sz="1200" dirty="0" err="1"/>
              <a:t>CLAHE</a:t>
            </a:r>
            <a:r>
              <a:rPr lang="es-ES" sz="1200" dirty="0"/>
              <a:t> puede mejorar zonas oscuras sin destruir tanto las claras.</a:t>
            </a:r>
          </a:p>
          <a:p>
            <a:endParaRPr lang="es-ES" sz="1200" dirty="0"/>
          </a:p>
          <a:p>
            <a:r>
              <a:rPr lang="es-ES" sz="1200" dirty="0"/>
              <a:t>Suavizado / reducción de ruido</a:t>
            </a:r>
          </a:p>
          <a:p>
            <a:r>
              <a:rPr lang="es-ES" sz="1200" dirty="0"/>
              <a:t>Sí, pero con cuidado. Si </a:t>
            </a:r>
            <a:r>
              <a:rPr lang="es-ES" sz="1200" dirty="0" err="1"/>
              <a:t>suavizás</a:t>
            </a:r>
            <a:r>
              <a:rPr lang="es-ES" sz="1200" dirty="0"/>
              <a:t> demasiado, </a:t>
            </a:r>
            <a:r>
              <a:rPr lang="es-ES" sz="1200" dirty="0" err="1"/>
              <a:t>perdés</a:t>
            </a:r>
            <a:r>
              <a:rPr lang="es-ES" sz="1200" dirty="0"/>
              <a:t> más nitidez. Lo usaría de forma leve, por ejemplo </a:t>
            </a:r>
            <a:r>
              <a:rPr lang="es-ES" sz="1200" dirty="0" err="1"/>
              <a:t>GaussianBlur</a:t>
            </a:r>
            <a:r>
              <a:rPr lang="es-ES" sz="1200" dirty="0"/>
              <a:t> suave o </a:t>
            </a:r>
            <a:r>
              <a:rPr lang="es-ES" sz="1200" dirty="0" err="1"/>
              <a:t>bilateralFilter</a:t>
            </a:r>
            <a:r>
              <a:rPr lang="es-ES" sz="1200" dirty="0"/>
              <a:t> si </a:t>
            </a:r>
            <a:r>
              <a:rPr lang="es-ES" sz="1200" dirty="0" err="1"/>
              <a:t>querés</a:t>
            </a:r>
            <a:r>
              <a:rPr lang="es-ES" sz="1200" dirty="0"/>
              <a:t> preservar bordes.</a:t>
            </a:r>
            <a:endParaRPr lang="en-US" sz="1200" dirty="0"/>
          </a:p>
        </p:txBody>
      </p:sp>
    </p:spTree>
    <p:extLst>
      <p:ext uri="{BB962C8B-B14F-4D97-AF65-F5344CB8AC3E}">
        <p14:creationId xmlns:p14="http://schemas.microsoft.com/office/powerpoint/2010/main" val="1529881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01ED6-C240-4D91-C817-5D524D9926D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4F3A37A-1BE8-F0F6-742E-F342CBCC8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5249364" cy="3554569"/>
          </a:xfrm>
          <a:prstGeom prst="rect">
            <a:avLst/>
          </a:prstGeom>
        </p:spPr>
      </p:pic>
      <p:sp>
        <p:nvSpPr>
          <p:cNvPr id="10" name="CuadroTexto 9">
            <a:extLst>
              <a:ext uri="{FF2B5EF4-FFF2-40B4-BE49-F238E27FC236}">
                <a16:creationId xmlns:a16="http://schemas.microsoft.com/office/drawing/2014/main" id="{B0E34E82-96BD-3400-C548-D0A06F1928EF}"/>
              </a:ext>
            </a:extLst>
          </p:cNvPr>
          <p:cNvSpPr txBox="1"/>
          <p:nvPr/>
        </p:nvSpPr>
        <p:spPr>
          <a:xfrm>
            <a:off x="5383157" y="0"/>
            <a:ext cx="5126003" cy="3785652"/>
          </a:xfrm>
          <a:prstGeom prst="rect">
            <a:avLst/>
          </a:prstGeom>
          <a:noFill/>
        </p:spPr>
        <p:txBody>
          <a:bodyPr wrap="square" rtlCol="0">
            <a:spAutoFit/>
          </a:bodyPr>
          <a:lstStyle/>
          <a:p>
            <a:r>
              <a:rPr lang="es-AR" sz="1200" dirty="0"/>
              <a:t>Problemas en la foto</a:t>
            </a:r>
          </a:p>
          <a:p>
            <a:r>
              <a:rPr lang="es-AR" sz="1200" dirty="0"/>
              <a:t>Nitidez</a:t>
            </a:r>
          </a:p>
          <a:p>
            <a:r>
              <a:rPr lang="es-AR" sz="1200" dirty="0"/>
              <a:t>Iluminación</a:t>
            </a:r>
          </a:p>
          <a:p>
            <a:r>
              <a:rPr lang="es-AR" sz="1200" dirty="0" err="1"/>
              <a:t>Ínvertida</a:t>
            </a:r>
            <a:endParaRPr lang="es-AR" sz="1200" dirty="0"/>
          </a:p>
          <a:p>
            <a:r>
              <a:rPr lang="es-AR" sz="1200" dirty="0"/>
              <a:t>Bajo contraste</a:t>
            </a:r>
          </a:p>
          <a:p>
            <a:endParaRPr lang="es-AR" sz="1200" dirty="0"/>
          </a:p>
          <a:p>
            <a:r>
              <a:rPr lang="en-US" sz="1200" b="1" dirty="0" err="1"/>
              <a:t>Volteo</a:t>
            </a:r>
            <a:r>
              <a:rPr lang="en-US" sz="1200" b="1" dirty="0"/>
              <a:t> y </a:t>
            </a:r>
            <a:r>
              <a:rPr lang="en-US" sz="1200" b="1" dirty="0" err="1"/>
              <a:t>rotacion</a:t>
            </a:r>
            <a:endParaRPr lang="en-US" sz="1200" b="1" dirty="0"/>
          </a:p>
          <a:p>
            <a:endParaRPr lang="es-AR" sz="1200" dirty="0"/>
          </a:p>
          <a:p>
            <a:endParaRPr lang="es-AR" sz="1200" dirty="0"/>
          </a:p>
          <a:p>
            <a:r>
              <a:rPr lang="en-US" sz="1200" b="1" dirty="0" err="1">
                <a:solidFill>
                  <a:srgbClr val="FF0000"/>
                </a:solidFill>
              </a:rPr>
              <a:t>Muestreo</a:t>
            </a:r>
            <a:r>
              <a:rPr lang="en-US" sz="1200" b="1" dirty="0">
                <a:solidFill>
                  <a:srgbClr val="FF0000"/>
                </a:solidFill>
              </a:rPr>
              <a:t> y </a:t>
            </a:r>
            <a:r>
              <a:rPr lang="en-US" sz="1200" b="1" dirty="0" err="1">
                <a:solidFill>
                  <a:srgbClr val="FF0000"/>
                </a:solidFill>
              </a:rPr>
              <a:t>cuantizacion</a:t>
            </a:r>
            <a:endParaRPr lang="en-US" sz="1200" b="1" dirty="0">
              <a:solidFill>
                <a:srgbClr val="FF0000"/>
              </a:solidFill>
            </a:endParaRPr>
          </a:p>
          <a:p>
            <a:endParaRPr lang="es-ES" sz="1200" b="1" dirty="0"/>
          </a:p>
          <a:p>
            <a:r>
              <a:rPr lang="es-ES" sz="1200" b="1" dirty="0"/>
              <a:t>Ajuste lineal de brillo y contraste</a:t>
            </a:r>
          </a:p>
          <a:p>
            <a:r>
              <a:rPr lang="en-US" sz="1200" b="1" dirty="0" err="1"/>
              <a:t>Ecualizacion</a:t>
            </a:r>
            <a:r>
              <a:rPr lang="en-US" sz="1200" b="1" dirty="0"/>
              <a:t> global del </a:t>
            </a:r>
            <a:r>
              <a:rPr lang="en-US" sz="1200" b="1" dirty="0" err="1"/>
              <a:t>histograma</a:t>
            </a:r>
            <a:endParaRPr lang="en-US" sz="1200" b="1" dirty="0"/>
          </a:p>
          <a:p>
            <a:r>
              <a:rPr lang="en-US" sz="1200" b="1" dirty="0" err="1"/>
              <a:t>CLAHE</a:t>
            </a:r>
            <a:endParaRPr lang="en-US" sz="1200" b="1" dirty="0"/>
          </a:p>
          <a:p>
            <a:endParaRPr lang="en-US" sz="1200" b="1" dirty="0"/>
          </a:p>
          <a:p>
            <a:r>
              <a:rPr lang="es-ES" sz="1200" b="1" dirty="0"/>
              <a:t>Suavizado y </a:t>
            </a:r>
            <a:r>
              <a:rPr lang="es-ES" sz="1200" b="1" dirty="0" err="1"/>
              <a:t>reduccion</a:t>
            </a:r>
            <a:r>
              <a:rPr lang="es-ES" sz="1200" b="1" dirty="0"/>
              <a:t> de ruido</a:t>
            </a:r>
          </a:p>
          <a:p>
            <a:r>
              <a:rPr lang="en-US" sz="1200" b="1" dirty="0" err="1">
                <a:solidFill>
                  <a:srgbClr val="FF0000"/>
                </a:solidFill>
              </a:rPr>
              <a:t>Umbralizacion</a:t>
            </a:r>
            <a:r>
              <a:rPr lang="en-US" sz="1200" b="1" dirty="0">
                <a:solidFill>
                  <a:srgbClr val="FF0000"/>
                </a:solidFill>
              </a:rPr>
              <a:t> </a:t>
            </a:r>
            <a:r>
              <a:rPr lang="en-US" sz="1200" b="1" dirty="0" err="1">
                <a:solidFill>
                  <a:srgbClr val="FF0000"/>
                </a:solidFill>
              </a:rPr>
              <a:t>automatica</a:t>
            </a:r>
            <a:r>
              <a:rPr lang="en-US" sz="1200" b="1" dirty="0">
                <a:solidFill>
                  <a:srgbClr val="FF0000"/>
                </a:solidFill>
              </a:rPr>
              <a:t> con Otsu</a:t>
            </a:r>
          </a:p>
          <a:p>
            <a:r>
              <a:rPr lang="en-US" sz="1200" b="1" dirty="0" err="1">
                <a:solidFill>
                  <a:srgbClr val="FF0000"/>
                </a:solidFill>
              </a:rPr>
              <a:t>Morfologia</a:t>
            </a:r>
            <a:r>
              <a:rPr lang="en-US" sz="1200" b="1" dirty="0">
                <a:solidFill>
                  <a:srgbClr val="FF0000"/>
                </a:solidFill>
              </a:rPr>
              <a:t> </a:t>
            </a:r>
            <a:r>
              <a:rPr lang="en-US" sz="1200" b="1" dirty="0" err="1">
                <a:solidFill>
                  <a:srgbClr val="FF0000"/>
                </a:solidFill>
              </a:rPr>
              <a:t>matematica</a:t>
            </a:r>
            <a:endParaRPr lang="en-US" sz="1200" b="1" dirty="0">
              <a:solidFill>
                <a:srgbClr val="FF0000"/>
              </a:solidFill>
            </a:endParaRPr>
          </a:p>
          <a:p>
            <a:r>
              <a:rPr lang="en-US" sz="1200" b="1" dirty="0">
                <a:solidFill>
                  <a:srgbClr val="FF0000"/>
                </a:solidFill>
              </a:rPr>
              <a:t>Inpainting</a:t>
            </a:r>
          </a:p>
          <a:p>
            <a:r>
              <a:rPr lang="es-ES" sz="1200" b="1" dirty="0" err="1">
                <a:solidFill>
                  <a:srgbClr val="FF0000"/>
                </a:solidFill>
              </a:rPr>
              <a:t>Deteccion</a:t>
            </a:r>
            <a:r>
              <a:rPr lang="es-ES" sz="1200" b="1" dirty="0">
                <a:solidFill>
                  <a:srgbClr val="FF0000"/>
                </a:solidFill>
              </a:rPr>
              <a:t> de rostros con Haar</a:t>
            </a:r>
            <a:endParaRPr lang="en-US" sz="1200" dirty="0">
              <a:solidFill>
                <a:srgbClr val="FF0000"/>
              </a:solidFill>
            </a:endParaRPr>
          </a:p>
        </p:txBody>
      </p:sp>
      <p:sp>
        <p:nvSpPr>
          <p:cNvPr id="6" name="CuadroTexto 5">
            <a:extLst>
              <a:ext uri="{FF2B5EF4-FFF2-40B4-BE49-F238E27FC236}">
                <a16:creationId xmlns:a16="http://schemas.microsoft.com/office/drawing/2014/main" id="{801A67DD-A2E5-4D54-38D2-66F282FA5A80}"/>
              </a:ext>
            </a:extLst>
          </p:cNvPr>
          <p:cNvSpPr txBox="1"/>
          <p:nvPr/>
        </p:nvSpPr>
        <p:spPr>
          <a:xfrm>
            <a:off x="1074" y="3961559"/>
            <a:ext cx="6094926" cy="2308324"/>
          </a:xfrm>
          <a:prstGeom prst="rect">
            <a:avLst/>
          </a:prstGeom>
          <a:noFill/>
        </p:spPr>
        <p:txBody>
          <a:bodyPr wrap="square">
            <a:spAutoFit/>
          </a:bodyPr>
          <a:lstStyle/>
          <a:p>
            <a:r>
              <a:rPr lang="es-ES" sz="1200" dirty="0"/>
              <a:t>Lo que yo sacaría o dejaría solo como “no elegido”:</a:t>
            </a:r>
          </a:p>
          <a:p>
            <a:endParaRPr lang="es-ES" sz="1200" dirty="0"/>
          </a:p>
          <a:p>
            <a:r>
              <a:rPr lang="es-ES" sz="1200" dirty="0"/>
              <a:t>Muestreo y cuantización: no parece aportar a la mejora. Sirve más como tema conceptual o diagnóstico, no como operación principal para este caso.</a:t>
            </a:r>
          </a:p>
          <a:p>
            <a:r>
              <a:rPr lang="es-ES" sz="1200" dirty="0"/>
              <a:t>Otsu / </a:t>
            </a:r>
            <a:r>
              <a:rPr lang="es-ES" sz="1200" dirty="0" err="1"/>
              <a:t>umbralización</a:t>
            </a:r>
            <a:r>
              <a:rPr lang="es-ES" sz="1200" dirty="0"/>
              <a:t>: no lo usaría para esta imagen salvo que quieras segmentar una zona específica. Para mejorar una foto de cámara oscura, </a:t>
            </a:r>
            <a:r>
              <a:rPr lang="es-ES" sz="1200" dirty="0" err="1"/>
              <a:t>binarizar</a:t>
            </a:r>
            <a:r>
              <a:rPr lang="es-ES" sz="1200" dirty="0"/>
              <a:t> no parece el objetivo.</a:t>
            </a:r>
          </a:p>
          <a:p>
            <a:r>
              <a:rPr lang="es-ES" sz="1200" dirty="0"/>
              <a:t>Morfología matemática: depende de tener una máscara binaria. Si no </a:t>
            </a:r>
            <a:r>
              <a:rPr lang="es-ES" sz="1200" dirty="0" err="1"/>
              <a:t>usás</a:t>
            </a:r>
            <a:r>
              <a:rPr lang="es-ES" sz="1200" dirty="0"/>
              <a:t> </a:t>
            </a:r>
            <a:r>
              <a:rPr lang="es-ES" sz="1200" dirty="0" err="1"/>
              <a:t>umbralización</a:t>
            </a:r>
            <a:r>
              <a:rPr lang="es-ES" sz="1200" dirty="0"/>
              <a:t>, no hace falta.</a:t>
            </a:r>
          </a:p>
          <a:p>
            <a:r>
              <a:rPr lang="es-ES" sz="1200" dirty="0" err="1"/>
              <a:t>Inpainting</a:t>
            </a:r>
            <a:r>
              <a:rPr lang="es-ES" sz="1200" dirty="0"/>
              <a:t>: solo si hay manchas o daños localizados concretos. No sirve para corregir oscuridad, desenfoque o bajo contraste general.</a:t>
            </a:r>
          </a:p>
          <a:p>
            <a:r>
              <a:rPr lang="es-ES" sz="1200" dirty="0"/>
              <a:t>Detección de rostros con Haar: no lo veo adecuado. La imagen está muy oscura, borrosa y no parece que el objetivo del </a:t>
            </a:r>
            <a:r>
              <a:rPr lang="es-ES" sz="1200" dirty="0" err="1"/>
              <a:t>TFI</a:t>
            </a:r>
            <a:r>
              <a:rPr lang="es-ES" sz="1200" dirty="0"/>
              <a:t> sea detectar caras en este caso.</a:t>
            </a:r>
            <a:endParaRPr lang="en-US" sz="1200" dirty="0"/>
          </a:p>
        </p:txBody>
      </p:sp>
    </p:spTree>
    <p:extLst>
      <p:ext uri="{BB962C8B-B14F-4D97-AF65-F5344CB8AC3E}">
        <p14:creationId xmlns:p14="http://schemas.microsoft.com/office/powerpoint/2010/main" val="3805033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E73FE-0438-1B85-B9B5-1C497250D93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58C4DF0-968C-4647-6CAB-C60ABEFE6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2636" y="115541"/>
            <a:ext cx="5249364" cy="3554569"/>
          </a:xfrm>
          <a:prstGeom prst="rect">
            <a:avLst/>
          </a:prstGeom>
        </p:spPr>
      </p:pic>
      <p:sp>
        <p:nvSpPr>
          <p:cNvPr id="10" name="CuadroTexto 9">
            <a:extLst>
              <a:ext uri="{FF2B5EF4-FFF2-40B4-BE49-F238E27FC236}">
                <a16:creationId xmlns:a16="http://schemas.microsoft.com/office/drawing/2014/main" id="{8D4008A9-2623-36B4-4F4C-809CA66B8ED4}"/>
              </a:ext>
            </a:extLst>
          </p:cNvPr>
          <p:cNvSpPr txBox="1"/>
          <p:nvPr/>
        </p:nvSpPr>
        <p:spPr>
          <a:xfrm>
            <a:off x="5249365" y="206062"/>
            <a:ext cx="5126003" cy="1015663"/>
          </a:xfrm>
          <a:prstGeom prst="rect">
            <a:avLst/>
          </a:prstGeom>
          <a:noFill/>
        </p:spPr>
        <p:txBody>
          <a:bodyPr wrap="square" rtlCol="0">
            <a:spAutoFit/>
          </a:bodyPr>
          <a:lstStyle/>
          <a:p>
            <a:r>
              <a:rPr lang="es-AR" sz="1200" dirty="0"/>
              <a:t>Problemas en la foto</a:t>
            </a:r>
          </a:p>
          <a:p>
            <a:r>
              <a:rPr lang="es-AR" sz="1200" dirty="0"/>
              <a:t>Nitidez</a:t>
            </a:r>
          </a:p>
          <a:p>
            <a:r>
              <a:rPr lang="es-AR" sz="1200" dirty="0"/>
              <a:t>Iluminación</a:t>
            </a:r>
          </a:p>
          <a:p>
            <a:r>
              <a:rPr lang="es-AR" sz="1200" dirty="0" err="1"/>
              <a:t>Ínvertida</a:t>
            </a:r>
            <a:endParaRPr lang="es-AR" sz="1200" dirty="0"/>
          </a:p>
          <a:p>
            <a:r>
              <a:rPr lang="es-AR" sz="1200" dirty="0"/>
              <a:t>Bajo contraste</a:t>
            </a:r>
            <a:endParaRPr lang="en-US" sz="1200" dirty="0">
              <a:solidFill>
                <a:srgbClr val="FF0000"/>
              </a:solidFill>
            </a:endParaRPr>
          </a:p>
        </p:txBody>
      </p:sp>
      <p:sp>
        <p:nvSpPr>
          <p:cNvPr id="6" name="CuadroTexto 5">
            <a:extLst>
              <a:ext uri="{FF2B5EF4-FFF2-40B4-BE49-F238E27FC236}">
                <a16:creationId xmlns:a16="http://schemas.microsoft.com/office/drawing/2014/main" id="{60385822-1FBF-F697-1C56-A51D54960CF0}"/>
              </a:ext>
            </a:extLst>
          </p:cNvPr>
          <p:cNvSpPr txBox="1"/>
          <p:nvPr/>
        </p:nvSpPr>
        <p:spPr>
          <a:xfrm>
            <a:off x="136303" y="1523619"/>
            <a:ext cx="12055697" cy="5124480"/>
          </a:xfrm>
          <a:prstGeom prst="rect">
            <a:avLst/>
          </a:prstGeom>
          <a:noFill/>
        </p:spPr>
        <p:txBody>
          <a:bodyPr wrap="square">
            <a:spAutoFit/>
          </a:bodyPr>
          <a:lstStyle/>
          <a:p>
            <a:pPr algn="l">
              <a:buNone/>
            </a:pPr>
            <a:r>
              <a:rPr lang="es-ES" sz="1200" b="0" i="0" dirty="0">
                <a:effectLst/>
                <a:latin typeface="Segoe WPC"/>
              </a:rPr>
              <a:t>Yo plantearía dos estrategias comparables así:</a:t>
            </a:r>
          </a:p>
          <a:p>
            <a:pPr algn="l">
              <a:buNone/>
            </a:pPr>
            <a:r>
              <a:rPr lang="es-ES" sz="1200" b="1" i="0" dirty="0">
                <a:effectLst/>
                <a:latin typeface="Segoe WPC"/>
              </a:rPr>
              <a:t>Estrategia 1: mejora global simple</a:t>
            </a:r>
            <a:endParaRPr lang="es-ES" sz="1200" b="0" i="0" dirty="0">
              <a:effectLst/>
              <a:latin typeface="Segoe WPC"/>
            </a:endParaRPr>
          </a:p>
          <a:p>
            <a:pPr algn="l">
              <a:spcBef>
                <a:spcPts val="450"/>
              </a:spcBef>
              <a:spcAft>
                <a:spcPts val="450"/>
              </a:spcAft>
              <a:buFont typeface="+mj-lt"/>
              <a:buAutoNum type="arabicPeriod"/>
            </a:pPr>
            <a:r>
              <a:rPr lang="es-ES" sz="1200" b="0" i="0" dirty="0">
                <a:effectLst/>
                <a:latin typeface="Segoe WPC"/>
              </a:rPr>
              <a:t>Rotar/voltear.</a:t>
            </a:r>
          </a:p>
          <a:p>
            <a:pPr algn="l">
              <a:spcBef>
                <a:spcPts val="450"/>
              </a:spcBef>
              <a:spcAft>
                <a:spcPts val="450"/>
              </a:spcAft>
              <a:buFont typeface="+mj-lt"/>
              <a:buAutoNum type="arabicPeriod"/>
            </a:pPr>
            <a:r>
              <a:rPr lang="es-ES" sz="1200" b="0" i="0" dirty="0">
                <a:effectLst/>
                <a:latin typeface="Segoe WPC"/>
              </a:rPr>
              <a:t>Recortar zona útil.</a:t>
            </a:r>
          </a:p>
          <a:p>
            <a:pPr algn="l">
              <a:spcBef>
                <a:spcPts val="450"/>
              </a:spcBef>
              <a:spcAft>
                <a:spcPts val="450"/>
              </a:spcAft>
              <a:buFont typeface="+mj-lt"/>
              <a:buAutoNum type="arabicPeriod"/>
            </a:pPr>
            <a:r>
              <a:rPr lang="es-ES" sz="1200" b="0" i="0" dirty="0">
                <a:effectLst/>
                <a:latin typeface="Segoe WPC"/>
              </a:rPr>
              <a:t>Ajuste lineal de brillo y contraste.</a:t>
            </a:r>
          </a:p>
          <a:p>
            <a:pPr algn="l">
              <a:spcBef>
                <a:spcPts val="450"/>
              </a:spcBef>
              <a:spcAft>
                <a:spcPts val="450"/>
              </a:spcAft>
              <a:buFont typeface="+mj-lt"/>
              <a:buAutoNum type="arabicPeriod"/>
            </a:pPr>
            <a:r>
              <a:rPr lang="es-ES" sz="1200" b="0" i="0" dirty="0">
                <a:effectLst/>
                <a:latin typeface="Segoe WPC"/>
              </a:rPr>
              <a:t>Suavizado leve si aparece ruido.</a:t>
            </a:r>
          </a:p>
          <a:p>
            <a:pPr algn="l">
              <a:buNone/>
            </a:pPr>
            <a:r>
              <a:rPr lang="es-ES" sz="1200" b="0" i="0" dirty="0">
                <a:effectLst/>
                <a:latin typeface="Segoe WPC"/>
              </a:rPr>
              <a:t>Ventaja: simple, rápida, fácil de justificar.</a:t>
            </a:r>
            <a:br>
              <a:rPr lang="es-ES" sz="1200" b="0" i="0" dirty="0">
                <a:effectLst/>
                <a:latin typeface="Segoe WPC"/>
              </a:rPr>
            </a:br>
            <a:r>
              <a:rPr lang="es-ES" sz="1200" b="0" i="0" dirty="0">
                <a:effectLst/>
                <a:latin typeface="Segoe WPC"/>
              </a:rPr>
              <a:t>Límite: puede mejorar el contraste general, pero no corrige bien la iluminación desigual.</a:t>
            </a:r>
          </a:p>
          <a:p>
            <a:pPr algn="l">
              <a:buNone/>
            </a:pPr>
            <a:endParaRPr lang="es-ES" sz="1200" b="0" i="0" dirty="0">
              <a:effectLst/>
              <a:latin typeface="Segoe WPC"/>
            </a:endParaRPr>
          </a:p>
          <a:p>
            <a:pPr algn="l">
              <a:buNone/>
            </a:pPr>
            <a:r>
              <a:rPr lang="es-ES" sz="1200" b="1" i="0" dirty="0">
                <a:effectLst/>
                <a:latin typeface="Segoe WPC"/>
              </a:rPr>
              <a:t>Estrategia 2: mejora local</a:t>
            </a:r>
            <a:endParaRPr lang="es-ES" sz="1200" b="0" i="0" dirty="0">
              <a:effectLst/>
              <a:latin typeface="Segoe WPC"/>
            </a:endParaRPr>
          </a:p>
          <a:p>
            <a:pPr algn="l">
              <a:spcBef>
                <a:spcPts val="450"/>
              </a:spcBef>
              <a:spcAft>
                <a:spcPts val="450"/>
              </a:spcAft>
              <a:buFont typeface="+mj-lt"/>
              <a:buAutoNum type="arabicPeriod"/>
            </a:pPr>
            <a:r>
              <a:rPr lang="es-ES" sz="1200" b="0" i="0" dirty="0">
                <a:effectLst/>
                <a:latin typeface="Segoe WPC"/>
              </a:rPr>
              <a:t>Rotar/voltear.</a:t>
            </a:r>
          </a:p>
          <a:p>
            <a:pPr algn="l">
              <a:spcBef>
                <a:spcPts val="450"/>
              </a:spcBef>
              <a:spcAft>
                <a:spcPts val="450"/>
              </a:spcAft>
              <a:buFont typeface="+mj-lt"/>
              <a:buAutoNum type="arabicPeriod"/>
            </a:pPr>
            <a:r>
              <a:rPr lang="es-ES" sz="1200" b="0" i="0" dirty="0">
                <a:effectLst/>
                <a:latin typeface="Segoe WPC"/>
              </a:rPr>
              <a:t>Recortar zona útil.</a:t>
            </a:r>
          </a:p>
          <a:p>
            <a:pPr algn="l">
              <a:spcBef>
                <a:spcPts val="450"/>
              </a:spcBef>
              <a:spcAft>
                <a:spcPts val="450"/>
              </a:spcAft>
              <a:buFont typeface="+mj-lt"/>
              <a:buAutoNum type="arabicPeriod"/>
            </a:pPr>
            <a:r>
              <a:rPr lang="es-ES" sz="1200" b="0" i="0" dirty="0">
                <a:effectLst/>
                <a:latin typeface="Segoe WPC"/>
              </a:rPr>
              <a:t>Convertir a LAB o trabajar en gris/luminancia.</a:t>
            </a:r>
          </a:p>
          <a:p>
            <a:pPr algn="l">
              <a:spcBef>
                <a:spcPts val="450"/>
              </a:spcBef>
              <a:spcAft>
                <a:spcPts val="450"/>
              </a:spcAft>
              <a:buFont typeface="+mj-lt"/>
              <a:buAutoNum type="arabicPeriod"/>
            </a:pPr>
            <a:r>
              <a:rPr lang="es-ES" sz="1200" b="0" i="0" dirty="0">
                <a:effectLst/>
                <a:latin typeface="Segoe WPC"/>
              </a:rPr>
              <a:t>Aplicar </a:t>
            </a:r>
            <a:r>
              <a:rPr lang="es-ES" sz="1200" b="0" i="0" dirty="0" err="1">
                <a:effectLst/>
                <a:latin typeface="Segoe WPC"/>
              </a:rPr>
              <a:t>CLAHE</a:t>
            </a:r>
            <a:r>
              <a:rPr lang="es-ES" sz="1200" b="0" i="0" dirty="0">
                <a:effectLst/>
                <a:latin typeface="Segoe WPC"/>
              </a:rPr>
              <a:t> sobre luminancia.</a:t>
            </a:r>
          </a:p>
          <a:p>
            <a:pPr algn="l">
              <a:spcBef>
                <a:spcPts val="450"/>
              </a:spcBef>
              <a:spcAft>
                <a:spcPts val="450"/>
              </a:spcAft>
              <a:buFont typeface="+mj-lt"/>
              <a:buAutoNum type="arabicPeriod"/>
            </a:pPr>
            <a:r>
              <a:rPr lang="es-ES" sz="1200" b="0" i="0" dirty="0">
                <a:effectLst/>
                <a:latin typeface="Segoe WPC"/>
              </a:rPr>
              <a:t>Suavizado leve si hace falta.</a:t>
            </a:r>
          </a:p>
          <a:p>
            <a:pPr algn="l">
              <a:buNone/>
            </a:pPr>
            <a:r>
              <a:rPr lang="es-ES" sz="1200" b="0" i="0" dirty="0">
                <a:effectLst/>
                <a:latin typeface="Segoe WPC"/>
              </a:rPr>
              <a:t>Ventaja: más adecuada para iluminación irregular.</a:t>
            </a:r>
          </a:p>
          <a:p>
            <a:pPr algn="l">
              <a:buNone/>
            </a:pPr>
            <a:r>
              <a:rPr lang="es-ES" sz="1200" b="0" i="0" dirty="0">
                <a:effectLst/>
                <a:latin typeface="Segoe WPC"/>
              </a:rPr>
              <a:t>Límite: puede aumentar ruido o generar aspecto artificial si el parámetro es fuerte.</a:t>
            </a:r>
          </a:p>
          <a:p>
            <a:pPr algn="l">
              <a:buNone/>
            </a:pPr>
            <a:endParaRPr lang="es-ES" sz="1200" b="0" i="0" dirty="0">
              <a:effectLst/>
              <a:latin typeface="Segoe WPC"/>
            </a:endParaRPr>
          </a:p>
          <a:p>
            <a:pPr algn="l">
              <a:buNone/>
            </a:pPr>
            <a:r>
              <a:rPr lang="es-ES" sz="1200" b="0" i="0" dirty="0">
                <a:effectLst/>
                <a:latin typeface="Segoe WPC"/>
              </a:rPr>
              <a:t>Mi elección probable sería la </a:t>
            </a:r>
            <a:r>
              <a:rPr lang="es-ES" sz="1200" b="1" i="0" dirty="0">
                <a:effectLst/>
                <a:latin typeface="Segoe WPC"/>
              </a:rPr>
              <a:t>Estrategia 2 con </a:t>
            </a:r>
            <a:r>
              <a:rPr lang="es-ES" sz="1200" b="1" i="0" dirty="0" err="1">
                <a:effectLst/>
                <a:latin typeface="Segoe WPC"/>
              </a:rPr>
              <a:t>CLAHE</a:t>
            </a:r>
            <a:r>
              <a:rPr lang="es-ES" sz="1200" b="0" i="0" dirty="0">
                <a:effectLst/>
                <a:latin typeface="Segoe WPC"/>
              </a:rPr>
              <a:t>, porque el problema más fuerte no es solo que la imagen esté oscura, sino que tiene contraste e iluminación muy desparejos. Pero en la defensa conviene aclarar algo importante: </a:t>
            </a:r>
            <a:r>
              <a:rPr lang="es-ES" sz="1200" b="1" i="0" dirty="0">
                <a:effectLst/>
                <a:latin typeface="Segoe WPC"/>
              </a:rPr>
              <a:t>la nitidez real no se puede recuperar del todo</a:t>
            </a:r>
            <a:r>
              <a:rPr lang="es-ES" sz="1200" b="0" i="0" dirty="0">
                <a:effectLst/>
                <a:latin typeface="Segoe WPC"/>
              </a:rPr>
              <a:t>. Si la imagen original está borrosa o tiene información perdida en sombras profundas, ningún filtro reconstruye detalle verdadero; solo mejora la visibilidad de lo que todavía está presente.</a:t>
            </a:r>
          </a:p>
        </p:txBody>
      </p:sp>
    </p:spTree>
    <p:extLst>
      <p:ext uri="{BB962C8B-B14F-4D97-AF65-F5344CB8AC3E}">
        <p14:creationId xmlns:p14="http://schemas.microsoft.com/office/powerpoint/2010/main" val="127031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CE92B-9971-CFA3-7029-DD7293761CC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31E600D-B3C7-4A84-0215-0496AD02AD37}"/>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17A6E9D-BB2D-DAB0-8A26-8B4262E30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2636" y="115541"/>
            <a:ext cx="5249364" cy="3554569"/>
          </a:xfrm>
          <a:prstGeom prst="rect">
            <a:avLst/>
          </a:prstGeom>
        </p:spPr>
      </p:pic>
      <p:sp>
        <p:nvSpPr>
          <p:cNvPr id="10" name="CuadroTexto 9">
            <a:extLst>
              <a:ext uri="{FF2B5EF4-FFF2-40B4-BE49-F238E27FC236}">
                <a16:creationId xmlns:a16="http://schemas.microsoft.com/office/drawing/2014/main" id="{CEF7AF99-C850-47E1-0DD7-FFD88A17D432}"/>
              </a:ext>
            </a:extLst>
          </p:cNvPr>
          <p:cNvSpPr txBox="1"/>
          <p:nvPr/>
        </p:nvSpPr>
        <p:spPr>
          <a:xfrm>
            <a:off x="5249365" y="206062"/>
            <a:ext cx="5126003" cy="1015663"/>
          </a:xfrm>
          <a:prstGeom prst="rect">
            <a:avLst/>
          </a:prstGeom>
          <a:noFill/>
        </p:spPr>
        <p:txBody>
          <a:bodyPr wrap="square" rtlCol="0">
            <a:spAutoFit/>
          </a:bodyPr>
          <a:lstStyle/>
          <a:p>
            <a:r>
              <a:rPr lang="es-AR" sz="1200" dirty="0"/>
              <a:t>Problemas en la foto</a:t>
            </a:r>
          </a:p>
          <a:p>
            <a:r>
              <a:rPr lang="es-AR" sz="1200" dirty="0"/>
              <a:t>Nitidez</a:t>
            </a:r>
          </a:p>
          <a:p>
            <a:r>
              <a:rPr lang="es-AR" sz="1200" dirty="0"/>
              <a:t>Iluminación</a:t>
            </a:r>
          </a:p>
          <a:p>
            <a:r>
              <a:rPr lang="es-AR" sz="1200" dirty="0" err="1"/>
              <a:t>Ínvertida</a:t>
            </a:r>
            <a:endParaRPr lang="es-AR" sz="1200" dirty="0"/>
          </a:p>
          <a:p>
            <a:r>
              <a:rPr lang="es-AR" sz="1200" dirty="0"/>
              <a:t>Bajo contraste</a:t>
            </a:r>
            <a:endParaRPr lang="en-US" sz="1200" dirty="0">
              <a:solidFill>
                <a:srgbClr val="FF0000"/>
              </a:solidFill>
            </a:endParaRPr>
          </a:p>
        </p:txBody>
      </p:sp>
      <p:sp>
        <p:nvSpPr>
          <p:cNvPr id="6" name="CuadroTexto 5">
            <a:extLst>
              <a:ext uri="{FF2B5EF4-FFF2-40B4-BE49-F238E27FC236}">
                <a16:creationId xmlns:a16="http://schemas.microsoft.com/office/drawing/2014/main" id="{97C8F799-5DC9-906F-F1CE-F6A10E563E66}"/>
              </a:ext>
            </a:extLst>
          </p:cNvPr>
          <p:cNvSpPr txBox="1"/>
          <p:nvPr/>
        </p:nvSpPr>
        <p:spPr>
          <a:xfrm>
            <a:off x="136303" y="1523619"/>
            <a:ext cx="12055697" cy="4247317"/>
          </a:xfrm>
          <a:prstGeom prst="rect">
            <a:avLst/>
          </a:prstGeom>
          <a:noFill/>
        </p:spPr>
        <p:txBody>
          <a:bodyPr wrap="square">
            <a:spAutoFit/>
          </a:bodyPr>
          <a:lstStyle/>
          <a:p>
            <a:r>
              <a:rPr lang="es-ES" dirty="0"/>
              <a:t>Caso: </a:t>
            </a:r>
            <a:r>
              <a:rPr lang="es-ES" b="1" dirty="0"/>
              <a:t>imagen obtenida mediante cámara oscura</a:t>
            </a:r>
            <a:r>
              <a:rPr lang="es-ES" dirty="0"/>
              <a:t>.</a:t>
            </a:r>
          </a:p>
          <a:p>
            <a:r>
              <a:rPr lang="es-ES" dirty="0"/>
              <a:t>Problemas principales:</a:t>
            </a:r>
          </a:p>
          <a:p>
            <a:r>
              <a:rPr lang="es-ES" dirty="0"/>
              <a:t>imagen muy oscura;</a:t>
            </a:r>
          </a:p>
          <a:p>
            <a:r>
              <a:rPr lang="es-ES" dirty="0"/>
              <a:t>bajo contraste;</a:t>
            </a:r>
          </a:p>
          <a:p>
            <a:r>
              <a:rPr lang="es-ES" dirty="0"/>
              <a:t>iluminación despareja;</a:t>
            </a:r>
          </a:p>
          <a:p>
            <a:r>
              <a:rPr lang="es-ES" dirty="0"/>
              <a:t>poca nitidez;</a:t>
            </a:r>
          </a:p>
          <a:p>
            <a:r>
              <a:rPr lang="es-ES" dirty="0"/>
              <a:t>posible orientación/inversión;</a:t>
            </a:r>
          </a:p>
          <a:p>
            <a:r>
              <a:rPr lang="es-ES" dirty="0"/>
              <a:t>mucha zona sin información útil.</a:t>
            </a:r>
          </a:p>
          <a:p>
            <a:r>
              <a:rPr lang="es-ES" dirty="0"/>
              <a:t>Pipeline recomendable:</a:t>
            </a:r>
          </a:p>
          <a:p>
            <a:r>
              <a:rPr lang="es-ES" dirty="0"/>
              <a:t>Corregir orientación, recortar la región útil, ajuste lineal de brillo y contraste.</a:t>
            </a:r>
          </a:p>
          <a:p>
            <a:r>
              <a:rPr lang="es-ES" dirty="0"/>
              <a:t>Probar </a:t>
            </a:r>
            <a:r>
              <a:rPr lang="es-ES" dirty="0" err="1"/>
              <a:t>CLAHE</a:t>
            </a:r>
            <a:r>
              <a:rPr lang="es-ES" dirty="0"/>
              <a:t>, Suavizado leve solo si el ruido queda muy visible.</a:t>
            </a:r>
          </a:p>
          <a:p>
            <a:r>
              <a:rPr lang="es-ES" dirty="0"/>
              <a:t>Comparación posible:</a:t>
            </a:r>
          </a:p>
          <a:p>
            <a:r>
              <a:rPr lang="es-ES" dirty="0"/>
              <a:t>Estrategia A: recorte -&gt; brillo/contraste.</a:t>
            </a:r>
          </a:p>
          <a:p>
            <a:r>
              <a:rPr lang="es-ES" dirty="0"/>
              <a:t>Estrategia B: recorte -&gt; </a:t>
            </a:r>
            <a:r>
              <a:rPr lang="es-ES" dirty="0" err="1"/>
              <a:t>CLAHE</a:t>
            </a:r>
            <a:r>
              <a:rPr lang="es-ES" dirty="0"/>
              <a:t> -&gt; suavizado leve.</a:t>
            </a:r>
          </a:p>
          <a:p>
            <a:r>
              <a:rPr lang="es-ES" dirty="0"/>
              <a:t>Probablemente convenga elegir la estrategia con </a:t>
            </a:r>
            <a:r>
              <a:rPr lang="es-ES" dirty="0" err="1"/>
              <a:t>CLAHE</a:t>
            </a:r>
            <a:r>
              <a:rPr lang="es-ES" dirty="0"/>
              <a:t>, porque la iluminación no es pareja.</a:t>
            </a:r>
          </a:p>
        </p:txBody>
      </p:sp>
    </p:spTree>
    <p:extLst>
      <p:ext uri="{BB962C8B-B14F-4D97-AF65-F5344CB8AC3E}">
        <p14:creationId xmlns:p14="http://schemas.microsoft.com/office/powerpoint/2010/main" val="276216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FDC7-94BA-C043-900A-5DFCDB550C6D}"/>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CE7E5FBA-91F9-FACE-5E7C-EB5A75336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8507" cy="3927867"/>
          </a:xfrm>
          <a:prstGeom prst="rect">
            <a:avLst/>
          </a:prstGeom>
        </p:spPr>
      </p:pic>
      <p:sp>
        <p:nvSpPr>
          <p:cNvPr id="2" name="CuadroTexto 1">
            <a:extLst>
              <a:ext uri="{FF2B5EF4-FFF2-40B4-BE49-F238E27FC236}">
                <a16:creationId xmlns:a16="http://schemas.microsoft.com/office/drawing/2014/main" id="{06CF1C5D-83DA-598C-01E1-C4F93DC00612}"/>
              </a:ext>
            </a:extLst>
          </p:cNvPr>
          <p:cNvSpPr txBox="1"/>
          <p:nvPr/>
        </p:nvSpPr>
        <p:spPr>
          <a:xfrm>
            <a:off x="3844133" y="352193"/>
            <a:ext cx="3434273" cy="3970318"/>
          </a:xfrm>
          <a:prstGeom prst="rect">
            <a:avLst/>
          </a:prstGeom>
          <a:noFill/>
        </p:spPr>
        <p:txBody>
          <a:bodyPr wrap="none" rtlCol="0">
            <a:spAutoFit/>
          </a:bodyPr>
          <a:lstStyle/>
          <a:p>
            <a:r>
              <a:rPr lang="es-AR" dirty="0"/>
              <a:t>Problemas en la foto</a:t>
            </a:r>
          </a:p>
          <a:p>
            <a:r>
              <a:rPr lang="es-AR" dirty="0"/>
              <a:t>Nitidez</a:t>
            </a:r>
          </a:p>
          <a:p>
            <a:r>
              <a:rPr lang="es-AR" dirty="0"/>
              <a:t>Colores apagados</a:t>
            </a:r>
          </a:p>
          <a:p>
            <a:r>
              <a:rPr lang="en-US" dirty="0"/>
              <a:t>Ruido</a:t>
            </a:r>
          </a:p>
          <a:p>
            <a:endParaRPr lang="en-US" dirty="0"/>
          </a:p>
          <a:p>
            <a:r>
              <a:rPr lang="en-US" b="1" dirty="0" err="1">
                <a:solidFill>
                  <a:schemeClr val="accent3"/>
                </a:solidFill>
              </a:rPr>
              <a:t>CLAHE</a:t>
            </a:r>
            <a:endParaRPr lang="en-US" b="1" dirty="0">
              <a:solidFill>
                <a:schemeClr val="accent3"/>
              </a:solidFill>
            </a:endParaRPr>
          </a:p>
          <a:p>
            <a:endParaRPr lang="en-US" b="1" dirty="0"/>
          </a:p>
          <a:p>
            <a:r>
              <a:rPr lang="es-ES" b="1" dirty="0">
                <a:solidFill>
                  <a:schemeClr val="accent3"/>
                </a:solidFill>
              </a:rPr>
              <a:t>Suavizado y </a:t>
            </a:r>
            <a:r>
              <a:rPr lang="es-ES" b="1" dirty="0" err="1">
                <a:solidFill>
                  <a:schemeClr val="accent3"/>
                </a:solidFill>
              </a:rPr>
              <a:t>reduccion</a:t>
            </a:r>
            <a:r>
              <a:rPr lang="es-ES" b="1" dirty="0">
                <a:solidFill>
                  <a:schemeClr val="accent3"/>
                </a:solidFill>
              </a:rPr>
              <a:t> de ruido</a:t>
            </a:r>
          </a:p>
          <a:p>
            <a:r>
              <a:rPr lang="en-US" b="1" dirty="0" err="1">
                <a:solidFill>
                  <a:srgbClr val="FF0000"/>
                </a:solidFill>
              </a:rPr>
              <a:t>Umbralizacion</a:t>
            </a:r>
            <a:r>
              <a:rPr lang="en-US" b="1" dirty="0">
                <a:solidFill>
                  <a:srgbClr val="FF0000"/>
                </a:solidFill>
              </a:rPr>
              <a:t> global manual</a:t>
            </a:r>
          </a:p>
          <a:p>
            <a:r>
              <a:rPr lang="en-US" b="1" dirty="0" err="1">
                <a:solidFill>
                  <a:srgbClr val="FF0000"/>
                </a:solidFill>
              </a:rPr>
              <a:t>Morfologia</a:t>
            </a:r>
            <a:r>
              <a:rPr lang="en-US" b="1" dirty="0">
                <a:solidFill>
                  <a:srgbClr val="FF0000"/>
                </a:solidFill>
              </a:rPr>
              <a:t> </a:t>
            </a:r>
            <a:r>
              <a:rPr lang="en-US" b="1" dirty="0" err="1">
                <a:solidFill>
                  <a:srgbClr val="FF0000"/>
                </a:solidFill>
              </a:rPr>
              <a:t>matematica</a:t>
            </a:r>
            <a:endParaRPr lang="en-US" b="1" dirty="0">
              <a:solidFill>
                <a:srgbClr val="FF0000"/>
              </a:solidFill>
            </a:endParaRPr>
          </a:p>
          <a:p>
            <a:r>
              <a:rPr lang="es-ES" b="1" dirty="0" err="1">
                <a:solidFill>
                  <a:srgbClr val="FF0000"/>
                </a:solidFill>
              </a:rPr>
              <a:t>Deteccion</a:t>
            </a:r>
            <a:r>
              <a:rPr lang="es-ES" b="1" dirty="0">
                <a:solidFill>
                  <a:srgbClr val="FF0000"/>
                </a:solidFill>
              </a:rPr>
              <a:t> de rostros con Haar</a:t>
            </a:r>
          </a:p>
          <a:p>
            <a:endParaRPr lang="en-US" b="1" dirty="0"/>
          </a:p>
          <a:p>
            <a:endParaRPr lang="en-US" b="1" dirty="0"/>
          </a:p>
          <a:p>
            <a:endParaRPr lang="en-US" dirty="0"/>
          </a:p>
        </p:txBody>
      </p:sp>
      <p:sp>
        <p:nvSpPr>
          <p:cNvPr id="4" name="CuadroTexto 3">
            <a:extLst>
              <a:ext uri="{FF2B5EF4-FFF2-40B4-BE49-F238E27FC236}">
                <a16:creationId xmlns:a16="http://schemas.microsoft.com/office/drawing/2014/main" id="{EB26FE3F-C1DF-0AC0-2C7C-BDC943E3EFEF}"/>
              </a:ext>
            </a:extLst>
          </p:cNvPr>
          <p:cNvSpPr txBox="1"/>
          <p:nvPr/>
        </p:nvSpPr>
        <p:spPr>
          <a:xfrm>
            <a:off x="0" y="4173957"/>
            <a:ext cx="6094926" cy="2308324"/>
          </a:xfrm>
          <a:prstGeom prst="rect">
            <a:avLst/>
          </a:prstGeom>
          <a:noFill/>
        </p:spPr>
        <p:txBody>
          <a:bodyPr wrap="square">
            <a:spAutoFit/>
          </a:bodyPr>
          <a:lstStyle/>
          <a:p>
            <a:r>
              <a:rPr lang="es-ES" sz="1200" dirty="0" err="1"/>
              <a:t>CLAHE</a:t>
            </a:r>
            <a:r>
              <a:rPr lang="es-ES" sz="1200" dirty="0"/>
              <a:t>: sí, muy buena candidata. Mejor si se aplica sobre la luminancia, por ejemplo canal L en LAB o canal V en </a:t>
            </a:r>
            <a:r>
              <a:rPr lang="es-ES" sz="1200" dirty="0" err="1"/>
              <a:t>HSV</a:t>
            </a:r>
            <a:r>
              <a:rPr lang="es-ES" sz="1200" dirty="0"/>
              <a:t>, para no deformar tanto los colores.</a:t>
            </a:r>
          </a:p>
          <a:p>
            <a:r>
              <a:rPr lang="es-ES" sz="1200" dirty="0"/>
              <a:t>Suavizado y reducción de ruido: sí, pero leve. Puede ayudar con grano/manchitas, aunque si te </a:t>
            </a:r>
            <a:r>
              <a:rPr lang="es-ES" sz="1200" dirty="0" err="1"/>
              <a:t>pasás</a:t>
            </a:r>
            <a:r>
              <a:rPr lang="es-ES" sz="1200" dirty="0"/>
              <a:t> borra más las caras.</a:t>
            </a:r>
          </a:p>
          <a:p>
            <a:r>
              <a:rPr lang="es-ES" sz="1200" dirty="0" err="1"/>
              <a:t>Umbralización</a:t>
            </a:r>
            <a:r>
              <a:rPr lang="es-ES" sz="1200" dirty="0"/>
              <a:t> global manual: yo no la usaría como mejora principal. Puede servir para crear una máscara si </a:t>
            </a:r>
            <a:r>
              <a:rPr lang="es-ES" sz="1200" dirty="0" err="1"/>
              <a:t>querés</a:t>
            </a:r>
            <a:r>
              <a:rPr lang="es-ES" sz="1200" dirty="0"/>
              <a:t> detectar manchas muy oscuras o zonas dañadas, pero no para restaurar la foto completa.</a:t>
            </a:r>
          </a:p>
          <a:p>
            <a:r>
              <a:rPr lang="es-ES" sz="1200" dirty="0"/>
              <a:t>Morfología matemática: solo tendría sentido si antes construís una máscara de manchas/daños. No la pondría como operación general del pipeline.</a:t>
            </a:r>
          </a:p>
          <a:p>
            <a:r>
              <a:rPr lang="es-ES" sz="1200" dirty="0"/>
              <a:t>Detección de rostros con Haar: la dejaría fuera del pipeline principal. Puede ser una prueba exploratoria interesante, pero con esta nitidez y contraste probablemente falle o sea inestable. Además la consigna evalúa mejora/restauración, no detección.</a:t>
            </a:r>
            <a:endParaRPr lang="en-US" sz="1200" dirty="0"/>
          </a:p>
        </p:txBody>
      </p:sp>
    </p:spTree>
    <p:extLst>
      <p:ext uri="{BB962C8B-B14F-4D97-AF65-F5344CB8AC3E}">
        <p14:creationId xmlns:p14="http://schemas.microsoft.com/office/powerpoint/2010/main" val="2144393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B2F4-31A1-D6DE-03A9-E13C4710B390}"/>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EB086FF5-6544-6197-3072-B24234B58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9939" y="67676"/>
            <a:ext cx="3348507" cy="3927867"/>
          </a:xfrm>
          <a:prstGeom prst="rect">
            <a:avLst/>
          </a:prstGeom>
        </p:spPr>
      </p:pic>
      <p:sp>
        <p:nvSpPr>
          <p:cNvPr id="2" name="CuadroTexto 1">
            <a:extLst>
              <a:ext uri="{FF2B5EF4-FFF2-40B4-BE49-F238E27FC236}">
                <a16:creationId xmlns:a16="http://schemas.microsoft.com/office/drawing/2014/main" id="{6D7555A1-A787-F98B-349A-FEDEFA51A73C}"/>
              </a:ext>
            </a:extLst>
          </p:cNvPr>
          <p:cNvSpPr txBox="1"/>
          <p:nvPr/>
        </p:nvSpPr>
        <p:spPr>
          <a:xfrm>
            <a:off x="4865738" y="220718"/>
            <a:ext cx="3434273" cy="3970318"/>
          </a:xfrm>
          <a:prstGeom prst="rect">
            <a:avLst/>
          </a:prstGeom>
          <a:noFill/>
        </p:spPr>
        <p:txBody>
          <a:bodyPr wrap="none" rtlCol="0">
            <a:spAutoFit/>
          </a:bodyPr>
          <a:lstStyle/>
          <a:p>
            <a:r>
              <a:rPr lang="es-AR" dirty="0"/>
              <a:t>Problemas en la foto</a:t>
            </a:r>
          </a:p>
          <a:p>
            <a:r>
              <a:rPr lang="es-AR" dirty="0"/>
              <a:t>Nitidez</a:t>
            </a:r>
          </a:p>
          <a:p>
            <a:r>
              <a:rPr lang="es-AR" dirty="0"/>
              <a:t>Colores apagados</a:t>
            </a:r>
          </a:p>
          <a:p>
            <a:r>
              <a:rPr lang="en-US" dirty="0"/>
              <a:t>Ruido</a:t>
            </a:r>
          </a:p>
          <a:p>
            <a:endParaRPr lang="en-US" dirty="0"/>
          </a:p>
          <a:p>
            <a:r>
              <a:rPr lang="en-US" b="1" dirty="0" err="1">
                <a:solidFill>
                  <a:schemeClr val="accent3"/>
                </a:solidFill>
              </a:rPr>
              <a:t>CLAHE</a:t>
            </a:r>
            <a:endParaRPr lang="en-US" b="1" dirty="0">
              <a:solidFill>
                <a:schemeClr val="accent3"/>
              </a:solidFill>
            </a:endParaRPr>
          </a:p>
          <a:p>
            <a:endParaRPr lang="en-US" b="1" dirty="0"/>
          </a:p>
          <a:p>
            <a:r>
              <a:rPr lang="es-ES" b="1" dirty="0">
                <a:solidFill>
                  <a:schemeClr val="accent3"/>
                </a:solidFill>
              </a:rPr>
              <a:t>Suavizado y </a:t>
            </a:r>
            <a:r>
              <a:rPr lang="es-ES" b="1" dirty="0" err="1">
                <a:solidFill>
                  <a:schemeClr val="accent3"/>
                </a:solidFill>
              </a:rPr>
              <a:t>reduccion</a:t>
            </a:r>
            <a:r>
              <a:rPr lang="es-ES" b="1" dirty="0">
                <a:solidFill>
                  <a:schemeClr val="accent3"/>
                </a:solidFill>
              </a:rPr>
              <a:t> de ruido</a:t>
            </a:r>
          </a:p>
          <a:p>
            <a:r>
              <a:rPr lang="en-US" b="1" dirty="0" err="1">
                <a:solidFill>
                  <a:srgbClr val="FF0000"/>
                </a:solidFill>
              </a:rPr>
              <a:t>Umbralizacion</a:t>
            </a:r>
            <a:r>
              <a:rPr lang="en-US" b="1" dirty="0">
                <a:solidFill>
                  <a:srgbClr val="FF0000"/>
                </a:solidFill>
              </a:rPr>
              <a:t> global manual</a:t>
            </a:r>
          </a:p>
          <a:p>
            <a:r>
              <a:rPr lang="en-US" b="1" dirty="0" err="1">
                <a:solidFill>
                  <a:srgbClr val="FF0000"/>
                </a:solidFill>
              </a:rPr>
              <a:t>Morfologia</a:t>
            </a:r>
            <a:r>
              <a:rPr lang="en-US" b="1" dirty="0">
                <a:solidFill>
                  <a:srgbClr val="FF0000"/>
                </a:solidFill>
              </a:rPr>
              <a:t> </a:t>
            </a:r>
            <a:r>
              <a:rPr lang="en-US" b="1" dirty="0" err="1">
                <a:solidFill>
                  <a:srgbClr val="FF0000"/>
                </a:solidFill>
              </a:rPr>
              <a:t>matematica</a:t>
            </a:r>
            <a:endParaRPr lang="en-US" b="1" dirty="0">
              <a:solidFill>
                <a:srgbClr val="FF0000"/>
              </a:solidFill>
            </a:endParaRPr>
          </a:p>
          <a:p>
            <a:r>
              <a:rPr lang="es-ES" b="1" dirty="0" err="1">
                <a:solidFill>
                  <a:srgbClr val="FF0000"/>
                </a:solidFill>
              </a:rPr>
              <a:t>Deteccion</a:t>
            </a:r>
            <a:r>
              <a:rPr lang="es-ES" b="1" dirty="0">
                <a:solidFill>
                  <a:srgbClr val="FF0000"/>
                </a:solidFill>
              </a:rPr>
              <a:t> de rostros con Haar</a:t>
            </a:r>
          </a:p>
          <a:p>
            <a:endParaRPr lang="en-US" b="1" dirty="0"/>
          </a:p>
          <a:p>
            <a:endParaRPr lang="en-US" b="1" dirty="0"/>
          </a:p>
          <a:p>
            <a:endParaRPr lang="en-US" dirty="0"/>
          </a:p>
        </p:txBody>
      </p:sp>
      <p:sp>
        <p:nvSpPr>
          <p:cNvPr id="5" name="CuadroTexto 4">
            <a:extLst>
              <a:ext uri="{FF2B5EF4-FFF2-40B4-BE49-F238E27FC236}">
                <a16:creationId xmlns:a16="http://schemas.microsoft.com/office/drawing/2014/main" id="{C34EEB2A-BBAA-3209-24EC-9D44BD0CF4F9}"/>
              </a:ext>
            </a:extLst>
          </p:cNvPr>
          <p:cNvSpPr txBox="1"/>
          <p:nvPr/>
        </p:nvSpPr>
        <p:spPr>
          <a:xfrm>
            <a:off x="89864" y="2266009"/>
            <a:ext cx="12434262" cy="4524315"/>
          </a:xfrm>
          <a:prstGeom prst="rect">
            <a:avLst/>
          </a:prstGeom>
          <a:noFill/>
        </p:spPr>
        <p:txBody>
          <a:bodyPr wrap="square">
            <a:spAutoFit/>
          </a:bodyPr>
          <a:lstStyle/>
          <a:p>
            <a:r>
              <a:rPr lang="es-ES" sz="1200" dirty="0"/>
              <a:t>Estrategia 1: mejora de contraste y color</a:t>
            </a:r>
          </a:p>
          <a:p>
            <a:endParaRPr lang="es-ES" sz="1200" dirty="0"/>
          </a:p>
          <a:p>
            <a:r>
              <a:rPr lang="es-ES" sz="1200" dirty="0"/>
              <a:t>Convertir a LAB.</a:t>
            </a:r>
          </a:p>
          <a:p>
            <a:r>
              <a:rPr lang="es-ES" sz="1200" dirty="0"/>
              <a:t>Aplicar </a:t>
            </a:r>
            <a:r>
              <a:rPr lang="es-ES" sz="1200" dirty="0" err="1"/>
              <a:t>CLAHE</a:t>
            </a:r>
            <a:r>
              <a:rPr lang="es-ES" sz="1200" dirty="0"/>
              <a:t> al canal L.</a:t>
            </a:r>
          </a:p>
          <a:p>
            <a:r>
              <a:rPr lang="es-ES" sz="1200" dirty="0"/>
              <a:t>Volver a RGB.</a:t>
            </a:r>
          </a:p>
          <a:p>
            <a:r>
              <a:rPr lang="es-ES" sz="1200" dirty="0"/>
              <a:t>Ajuste suave de brillo/contraste o saturación si hace falta.</a:t>
            </a:r>
          </a:p>
          <a:p>
            <a:r>
              <a:rPr lang="es-ES" sz="1200" dirty="0"/>
              <a:t>Esta apunta a recuperar legibilidad general, especialmente rostros y ropa, sin convertir la imagen en máscara.</a:t>
            </a:r>
          </a:p>
          <a:p>
            <a:endParaRPr lang="es-ES" sz="1200" dirty="0"/>
          </a:p>
          <a:p>
            <a:r>
              <a:rPr lang="es-ES" sz="1200" dirty="0"/>
              <a:t>Estrategia 2: reducción de ruido + mejora local</a:t>
            </a:r>
          </a:p>
          <a:p>
            <a:endParaRPr lang="es-ES" sz="1200" dirty="0"/>
          </a:p>
          <a:p>
            <a:r>
              <a:rPr lang="es-ES" sz="1200" dirty="0"/>
              <a:t>Aplicar </a:t>
            </a:r>
            <a:r>
              <a:rPr lang="es-ES" sz="1200" dirty="0" err="1"/>
              <a:t>bilateralFilter</a:t>
            </a:r>
            <a:r>
              <a:rPr lang="es-ES" sz="1200" dirty="0"/>
              <a:t> o </a:t>
            </a:r>
            <a:r>
              <a:rPr lang="es-ES" sz="1200" dirty="0" err="1"/>
              <a:t>fastNlMeansDenoisingColored</a:t>
            </a:r>
            <a:r>
              <a:rPr lang="es-ES" sz="1200" dirty="0"/>
              <a:t>.</a:t>
            </a:r>
          </a:p>
          <a:p>
            <a:r>
              <a:rPr lang="es-ES" sz="1200" dirty="0"/>
              <a:t>Convertir a LAB.</a:t>
            </a:r>
          </a:p>
          <a:p>
            <a:r>
              <a:rPr lang="es-ES" sz="1200" dirty="0"/>
              <a:t>Aplicar </a:t>
            </a:r>
            <a:r>
              <a:rPr lang="es-ES" sz="1200" dirty="0" err="1"/>
              <a:t>CLAHE</a:t>
            </a:r>
            <a:r>
              <a:rPr lang="es-ES" sz="1200" dirty="0"/>
              <a:t> moderado en L.</a:t>
            </a:r>
          </a:p>
          <a:p>
            <a:r>
              <a:rPr lang="es-ES" sz="1200" dirty="0"/>
              <a:t>Ajuste leve de color/saturación.</a:t>
            </a:r>
          </a:p>
          <a:p>
            <a:r>
              <a:rPr lang="es-ES" sz="1200" dirty="0"/>
              <a:t>Esta apunta a limpiar un poco antes de mejorar contraste. El riesgo es perder detalle facial si el suavizado es fuerte.</a:t>
            </a:r>
          </a:p>
          <a:p>
            <a:endParaRPr lang="es-ES" sz="1200" dirty="0"/>
          </a:p>
          <a:p>
            <a:r>
              <a:rPr lang="es-ES" sz="1200" dirty="0"/>
              <a:t>Si la foto tiene rayas o manchas puntuales, ahí sí </a:t>
            </a:r>
            <a:r>
              <a:rPr lang="es-ES" sz="1200" dirty="0" err="1"/>
              <a:t>podés</a:t>
            </a:r>
            <a:r>
              <a:rPr lang="es-ES" sz="1200" dirty="0"/>
              <a:t> sumar una tercera idea puntual: máscara de daño + </a:t>
            </a:r>
            <a:r>
              <a:rPr lang="es-ES" sz="1200" dirty="0" err="1"/>
              <a:t>inpainting</a:t>
            </a:r>
            <a:r>
              <a:rPr lang="es-ES" sz="1200" dirty="0"/>
              <a:t>, pero solo para zonas pequeñas. No lo usaría para toda la foto.</a:t>
            </a:r>
          </a:p>
          <a:p>
            <a:endParaRPr lang="es-ES" sz="1200" dirty="0"/>
          </a:p>
          <a:p>
            <a:r>
              <a:rPr lang="es-ES" sz="1200" dirty="0"/>
              <a:t>Mi recomendación: para esta imagen </a:t>
            </a:r>
            <a:r>
              <a:rPr lang="es-ES" sz="1200" dirty="0" err="1"/>
              <a:t>defendé</a:t>
            </a:r>
            <a:r>
              <a:rPr lang="es-ES" sz="1200" dirty="0"/>
              <a:t> un pipeline corto tipo:</a:t>
            </a:r>
          </a:p>
          <a:p>
            <a:endParaRPr lang="es-ES" sz="1200" dirty="0"/>
          </a:p>
          <a:p>
            <a:r>
              <a:rPr lang="es-ES" sz="1200" dirty="0" err="1"/>
              <a:t>denoise</a:t>
            </a:r>
            <a:r>
              <a:rPr lang="es-ES" sz="1200" dirty="0"/>
              <a:t> leve -&gt; </a:t>
            </a:r>
            <a:r>
              <a:rPr lang="es-ES" sz="1200" dirty="0" err="1"/>
              <a:t>CLAHE</a:t>
            </a:r>
            <a:r>
              <a:rPr lang="es-ES" sz="1200" dirty="0"/>
              <a:t> en luminancia -&gt; ajuste suave de color/contraste</a:t>
            </a:r>
          </a:p>
          <a:p>
            <a:endParaRPr lang="es-ES" sz="1200" dirty="0"/>
          </a:p>
          <a:p>
            <a:r>
              <a:rPr lang="es-ES" sz="1200" dirty="0"/>
              <a:t>Y en la justificación diría algo así: “No elegí </a:t>
            </a:r>
            <a:r>
              <a:rPr lang="es-ES" sz="1200" dirty="0" err="1"/>
              <a:t>umbralización</a:t>
            </a:r>
            <a:r>
              <a:rPr lang="es-ES" sz="1200" dirty="0"/>
              <a:t> ni morfología como operaciones principales porque el objetivo no era segmentar objetos, sino mejorar una imagen color degradada. Esas técnicas serían útiles solo si construyera una máscara para daños puntuales.”</a:t>
            </a:r>
            <a:endParaRPr lang="en-US" sz="1200" dirty="0"/>
          </a:p>
        </p:txBody>
      </p:sp>
    </p:spTree>
    <p:extLst>
      <p:ext uri="{BB962C8B-B14F-4D97-AF65-F5344CB8AC3E}">
        <p14:creationId xmlns:p14="http://schemas.microsoft.com/office/powerpoint/2010/main" val="3212583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5BC6-98B1-7C8C-71B7-307AA326303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BA381BD-1152-E614-0B46-1D292E7254B9}"/>
              </a:ext>
            </a:extLst>
          </p:cNvPr>
          <p:cNvPicPr>
            <a:picLocks noChangeAspect="1"/>
          </p:cNvPicPr>
          <p:nvPr/>
        </p:nvPicPr>
        <p:blipFill>
          <a:blip r:embed="rId2"/>
          <a:stretch>
            <a:fillRect/>
          </a:stretch>
        </p:blipFill>
        <p:spPr>
          <a:xfrm>
            <a:off x="8841698" y="0"/>
            <a:ext cx="3350302" cy="4467069"/>
          </a:xfrm>
          <a:prstGeom prst="rect">
            <a:avLst/>
          </a:prstGeom>
        </p:spPr>
      </p:pic>
      <p:sp>
        <p:nvSpPr>
          <p:cNvPr id="7" name="CuadroTexto 6">
            <a:extLst>
              <a:ext uri="{FF2B5EF4-FFF2-40B4-BE49-F238E27FC236}">
                <a16:creationId xmlns:a16="http://schemas.microsoft.com/office/drawing/2014/main" id="{B699D8D8-37C5-97FD-A556-B0AB05C39923}"/>
              </a:ext>
            </a:extLst>
          </p:cNvPr>
          <p:cNvSpPr txBox="1"/>
          <p:nvPr/>
        </p:nvSpPr>
        <p:spPr>
          <a:xfrm>
            <a:off x="1936006" y="225321"/>
            <a:ext cx="6629696" cy="1200329"/>
          </a:xfrm>
          <a:prstGeom prst="rect">
            <a:avLst/>
          </a:prstGeom>
          <a:noFill/>
        </p:spPr>
        <p:txBody>
          <a:bodyPr wrap="square">
            <a:spAutoFit/>
          </a:bodyPr>
          <a:lstStyle/>
          <a:p>
            <a:r>
              <a:rPr lang="es-ES" dirty="0"/>
              <a:t>tiene bajo contraste general;</a:t>
            </a:r>
          </a:p>
          <a:p>
            <a:r>
              <a:rPr lang="es-ES" dirty="0"/>
              <a:t>tiene una dominante/velo gris claro bastante evidente;</a:t>
            </a:r>
          </a:p>
          <a:p>
            <a:r>
              <a:rPr lang="es-ES" dirty="0"/>
              <a:t>tiene zonas oscuras y claras diferenciadas;</a:t>
            </a:r>
          </a:p>
          <a:p>
            <a:r>
              <a:rPr lang="es-ES" dirty="0"/>
              <a:t>hay posible ruido/suciedad y reflejos del soporte fotográfico.</a:t>
            </a:r>
            <a:endParaRPr lang="en-US" dirty="0"/>
          </a:p>
        </p:txBody>
      </p:sp>
      <p:sp>
        <p:nvSpPr>
          <p:cNvPr id="10" name="CuadroTexto 9">
            <a:extLst>
              <a:ext uri="{FF2B5EF4-FFF2-40B4-BE49-F238E27FC236}">
                <a16:creationId xmlns:a16="http://schemas.microsoft.com/office/drawing/2014/main" id="{D9043E37-17A3-D9D8-8331-00AE5918C204}"/>
              </a:ext>
            </a:extLst>
          </p:cNvPr>
          <p:cNvSpPr txBox="1"/>
          <p:nvPr/>
        </p:nvSpPr>
        <p:spPr>
          <a:xfrm>
            <a:off x="0" y="3333960"/>
            <a:ext cx="8600089" cy="3416320"/>
          </a:xfrm>
          <a:prstGeom prst="rect">
            <a:avLst/>
          </a:prstGeom>
          <a:noFill/>
        </p:spPr>
        <p:txBody>
          <a:bodyPr wrap="square">
            <a:spAutoFit/>
          </a:bodyPr>
          <a:lstStyle/>
          <a:p>
            <a:r>
              <a:rPr lang="es-ES" dirty="0"/>
              <a:t>Estrategia 1</a:t>
            </a:r>
          </a:p>
          <a:p>
            <a:r>
              <a:rPr lang="es-ES" dirty="0"/>
              <a:t>ajuste lineal de brillo/contraste -&gt; aumento leve de saturación -&gt; suavizado suave</a:t>
            </a:r>
          </a:p>
          <a:p>
            <a:endParaRPr lang="es-ES" dirty="0"/>
          </a:p>
          <a:p>
            <a:r>
              <a:rPr lang="es-ES" dirty="0"/>
              <a:t>Estrategia 2</a:t>
            </a:r>
          </a:p>
          <a:p>
            <a:r>
              <a:rPr lang="es-ES" dirty="0"/>
              <a:t>LAB -&gt; </a:t>
            </a:r>
            <a:r>
              <a:rPr lang="es-ES" dirty="0" err="1"/>
              <a:t>CLAHE</a:t>
            </a:r>
            <a:r>
              <a:rPr lang="es-ES" dirty="0"/>
              <a:t> en canal L -&gt; corrección de color/saturación -&gt; reducción de ruido leve</a:t>
            </a:r>
          </a:p>
          <a:p>
            <a:endParaRPr lang="es-ES" dirty="0"/>
          </a:p>
          <a:p>
            <a:r>
              <a:rPr lang="es-ES" dirty="0"/>
              <a:t>La segunda probablemente funcione mejor, porque el problema principal parece ser una combinación de bajo contraste local + color apagado + velo de iluminación.</a:t>
            </a:r>
          </a:p>
          <a:p>
            <a:endParaRPr lang="es-ES" dirty="0"/>
          </a:p>
          <a:p>
            <a:r>
              <a:rPr lang="es-ES" dirty="0"/>
              <a:t>Además, esta imagen te permite justificar mejor los límites: se puede mejorar la visibilidad de la rueda, la persona y la vegetación, pero no se puede recuperar completamente la nitidez perdida ni eliminar todos los reflejos/texturas del papel.</a:t>
            </a:r>
            <a:endParaRPr lang="en-US" dirty="0"/>
          </a:p>
        </p:txBody>
      </p:sp>
    </p:spTree>
    <p:extLst>
      <p:ext uri="{BB962C8B-B14F-4D97-AF65-F5344CB8AC3E}">
        <p14:creationId xmlns:p14="http://schemas.microsoft.com/office/powerpoint/2010/main" val="4242622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F28BE-1278-7141-B940-2D74FB60BBC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18F90D5-AA64-C812-579E-F1A2B475B354}"/>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910E7FC-F7DC-2F87-F45A-F5FEF5192210}"/>
              </a:ext>
            </a:extLst>
          </p:cNvPr>
          <p:cNvPicPr>
            <a:picLocks noChangeAspect="1"/>
          </p:cNvPicPr>
          <p:nvPr/>
        </p:nvPicPr>
        <p:blipFill>
          <a:blip r:embed="rId2"/>
          <a:stretch>
            <a:fillRect/>
          </a:stretch>
        </p:blipFill>
        <p:spPr>
          <a:xfrm>
            <a:off x="8841698" y="0"/>
            <a:ext cx="3350302" cy="4467069"/>
          </a:xfrm>
          <a:prstGeom prst="rect">
            <a:avLst/>
          </a:prstGeom>
        </p:spPr>
      </p:pic>
      <p:sp>
        <p:nvSpPr>
          <p:cNvPr id="7" name="CuadroTexto 6">
            <a:extLst>
              <a:ext uri="{FF2B5EF4-FFF2-40B4-BE49-F238E27FC236}">
                <a16:creationId xmlns:a16="http://schemas.microsoft.com/office/drawing/2014/main" id="{5428C01B-BB2B-A01C-35FD-A718F8DD25FC}"/>
              </a:ext>
            </a:extLst>
          </p:cNvPr>
          <p:cNvSpPr txBox="1"/>
          <p:nvPr/>
        </p:nvSpPr>
        <p:spPr>
          <a:xfrm>
            <a:off x="1936006" y="225321"/>
            <a:ext cx="6629696" cy="1200329"/>
          </a:xfrm>
          <a:prstGeom prst="rect">
            <a:avLst/>
          </a:prstGeom>
          <a:noFill/>
        </p:spPr>
        <p:txBody>
          <a:bodyPr wrap="square">
            <a:spAutoFit/>
          </a:bodyPr>
          <a:lstStyle/>
          <a:p>
            <a:r>
              <a:rPr lang="es-ES" dirty="0"/>
              <a:t>tiene bajo contraste general;</a:t>
            </a:r>
          </a:p>
          <a:p>
            <a:r>
              <a:rPr lang="es-ES" dirty="0"/>
              <a:t>tiene una dominante/velo gris claro bastante evidente;</a:t>
            </a:r>
          </a:p>
          <a:p>
            <a:r>
              <a:rPr lang="es-ES" dirty="0"/>
              <a:t>tiene zonas oscuras y claras diferenciadas;</a:t>
            </a:r>
          </a:p>
          <a:p>
            <a:r>
              <a:rPr lang="es-ES" dirty="0"/>
              <a:t>hay posible ruido/suciedad y reflejos del soporte fotográfico.</a:t>
            </a:r>
            <a:endParaRPr lang="en-US" dirty="0"/>
          </a:p>
        </p:txBody>
      </p:sp>
      <p:sp>
        <p:nvSpPr>
          <p:cNvPr id="6" name="CuadroTexto 5">
            <a:extLst>
              <a:ext uri="{FF2B5EF4-FFF2-40B4-BE49-F238E27FC236}">
                <a16:creationId xmlns:a16="http://schemas.microsoft.com/office/drawing/2014/main" id="{E97B35EA-230C-79B1-2B39-6BFD15DBCF12}"/>
              </a:ext>
            </a:extLst>
          </p:cNvPr>
          <p:cNvSpPr txBox="1"/>
          <p:nvPr/>
        </p:nvSpPr>
        <p:spPr>
          <a:xfrm>
            <a:off x="197069" y="2015820"/>
            <a:ext cx="8726610" cy="5078313"/>
          </a:xfrm>
          <a:prstGeom prst="rect">
            <a:avLst/>
          </a:prstGeom>
          <a:noFill/>
        </p:spPr>
        <p:txBody>
          <a:bodyPr wrap="square">
            <a:spAutoFit/>
          </a:bodyPr>
          <a:lstStyle/>
          <a:p>
            <a:r>
              <a:rPr lang="es-ES" sz="1200" dirty="0"/>
              <a:t>Caso: medio gráfico color.</a:t>
            </a:r>
          </a:p>
          <a:p>
            <a:endParaRPr lang="es-ES" sz="1200" dirty="0"/>
          </a:p>
          <a:p>
            <a:r>
              <a:rPr lang="es-ES" sz="1200" dirty="0"/>
              <a:t>Problemas principales:</a:t>
            </a:r>
          </a:p>
          <a:p>
            <a:endParaRPr lang="es-ES" sz="1200" dirty="0"/>
          </a:p>
          <a:p>
            <a:r>
              <a:rPr lang="es-ES" sz="1200" dirty="0"/>
              <a:t>colores apagados, bajo contraste, iluminación irregular, ruido, baja saturación</a:t>
            </a:r>
          </a:p>
          <a:p>
            <a:r>
              <a:rPr lang="es-ES" sz="1200" dirty="0"/>
              <a:t>Ajustar saturación/color, reducción de ruido</a:t>
            </a:r>
          </a:p>
          <a:p>
            <a:endParaRPr lang="es-ES" sz="1200" dirty="0"/>
          </a:p>
          <a:p>
            <a:endParaRPr lang="es-ES" sz="1200" dirty="0"/>
          </a:p>
          <a:p>
            <a:r>
              <a:rPr lang="es-ES" sz="1200" dirty="0"/>
              <a:t>velo gris o baja saturación;</a:t>
            </a:r>
          </a:p>
          <a:p>
            <a:r>
              <a:rPr lang="es-ES" sz="1200" dirty="0"/>
              <a:t>bajo contraste;</a:t>
            </a:r>
          </a:p>
          <a:p>
            <a:r>
              <a:rPr lang="es-ES" sz="1200" dirty="0"/>
              <a:t>iluminación irregular;</a:t>
            </a:r>
          </a:p>
          <a:p>
            <a:r>
              <a:rPr lang="es-ES" sz="1200" dirty="0"/>
              <a:t>ruido o textura del papel;</a:t>
            </a:r>
          </a:p>
          <a:p>
            <a:r>
              <a:rPr lang="es-ES" sz="1200" dirty="0"/>
              <a:t>detalles oscuros parcialmente perdidos.</a:t>
            </a:r>
          </a:p>
          <a:p>
            <a:endParaRPr lang="es-ES" sz="1200" dirty="0"/>
          </a:p>
          <a:p>
            <a:r>
              <a:rPr lang="es-ES" sz="1200" dirty="0"/>
              <a:t>Pipeline recomendable:</a:t>
            </a:r>
          </a:p>
          <a:p>
            <a:endParaRPr lang="es-ES" sz="1200" dirty="0"/>
          </a:p>
          <a:p>
            <a:r>
              <a:rPr lang="es-ES" sz="1200" dirty="0"/>
              <a:t>Convertir a LAB o </a:t>
            </a:r>
            <a:r>
              <a:rPr lang="es-ES" sz="1200" dirty="0" err="1"/>
              <a:t>HSV</a:t>
            </a:r>
            <a:r>
              <a:rPr lang="es-ES" sz="1200" dirty="0"/>
              <a:t>.</a:t>
            </a:r>
          </a:p>
          <a:p>
            <a:r>
              <a:rPr lang="es-ES" sz="1200" dirty="0"/>
              <a:t>Mejorar luminancia con </a:t>
            </a:r>
            <a:r>
              <a:rPr lang="es-ES" sz="1200" dirty="0" err="1"/>
              <a:t>CLAHE</a:t>
            </a:r>
            <a:r>
              <a:rPr lang="es-ES" sz="1200" dirty="0"/>
              <a:t>.</a:t>
            </a:r>
          </a:p>
          <a:p>
            <a:r>
              <a:rPr lang="es-ES" sz="1200" dirty="0"/>
              <a:t>Ajustar saturación/color suavemente.</a:t>
            </a:r>
          </a:p>
          <a:p>
            <a:r>
              <a:rPr lang="es-ES" sz="1200" dirty="0"/>
              <a:t>Reducción de ruido leve.</a:t>
            </a:r>
          </a:p>
          <a:p>
            <a:r>
              <a:rPr lang="es-ES" sz="1200" dirty="0"/>
              <a:t>Evitar filtros agresivos porque la imagen ya tiene poca nitidez.</a:t>
            </a:r>
          </a:p>
          <a:p>
            <a:r>
              <a:rPr lang="es-ES" sz="1200" dirty="0"/>
              <a:t>Comparación posible:</a:t>
            </a:r>
          </a:p>
          <a:p>
            <a:endParaRPr lang="es-ES" sz="1200" dirty="0"/>
          </a:p>
          <a:p>
            <a:r>
              <a:rPr lang="es-ES" sz="1200" dirty="0"/>
              <a:t>Estrategia A: brillo/contraste -&gt; saturación.</a:t>
            </a:r>
          </a:p>
          <a:p>
            <a:r>
              <a:rPr lang="es-ES" sz="1200" dirty="0"/>
              <a:t>Estrategia B: LAB -&gt; </a:t>
            </a:r>
            <a:r>
              <a:rPr lang="es-ES" sz="1200" dirty="0" err="1"/>
              <a:t>CLAHE</a:t>
            </a:r>
            <a:r>
              <a:rPr lang="es-ES" sz="1200" dirty="0"/>
              <a:t> en L -&gt; ajuste de saturación -&gt; </a:t>
            </a:r>
            <a:r>
              <a:rPr lang="es-ES" sz="1200" dirty="0" err="1"/>
              <a:t>denoise</a:t>
            </a:r>
            <a:r>
              <a:rPr lang="es-ES" sz="1200" dirty="0"/>
              <a:t> leve.</a:t>
            </a:r>
          </a:p>
          <a:p>
            <a:r>
              <a:rPr lang="es-ES" sz="1200" dirty="0"/>
              <a:t>Probablemente la mejor sea la estrategia con </a:t>
            </a:r>
            <a:r>
              <a:rPr lang="es-ES" sz="1200" dirty="0" err="1"/>
              <a:t>CLAHE</a:t>
            </a:r>
            <a:r>
              <a:rPr lang="es-ES" sz="1200" dirty="0"/>
              <a:t> en luminancia, porque mejora contraste sin alterar tanto los colores.</a:t>
            </a:r>
            <a:endParaRPr lang="en-US" sz="1200" dirty="0"/>
          </a:p>
        </p:txBody>
      </p:sp>
    </p:spTree>
    <p:extLst>
      <p:ext uri="{BB962C8B-B14F-4D97-AF65-F5344CB8AC3E}">
        <p14:creationId xmlns:p14="http://schemas.microsoft.com/office/powerpoint/2010/main" val="177901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1BF6-FB76-AFAB-27D1-EA898F2380F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5478C4E-9B23-CB1D-CB8D-AB1CD652C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65694" cy="3424271"/>
          </a:xfrm>
          <a:prstGeom prst="rect">
            <a:avLst/>
          </a:prstGeom>
        </p:spPr>
      </p:pic>
      <p:sp>
        <p:nvSpPr>
          <p:cNvPr id="2" name="CuadroTexto 1">
            <a:extLst>
              <a:ext uri="{FF2B5EF4-FFF2-40B4-BE49-F238E27FC236}">
                <a16:creationId xmlns:a16="http://schemas.microsoft.com/office/drawing/2014/main" id="{63830484-ECA9-13A9-4483-89A7B8924BD2}"/>
              </a:ext>
            </a:extLst>
          </p:cNvPr>
          <p:cNvSpPr txBox="1"/>
          <p:nvPr/>
        </p:nvSpPr>
        <p:spPr>
          <a:xfrm>
            <a:off x="7274452" y="174287"/>
            <a:ext cx="3828420" cy="5355312"/>
          </a:xfrm>
          <a:prstGeom prst="rect">
            <a:avLst/>
          </a:prstGeom>
          <a:noFill/>
        </p:spPr>
        <p:txBody>
          <a:bodyPr wrap="none" rtlCol="0">
            <a:spAutoFit/>
          </a:bodyPr>
          <a:lstStyle/>
          <a:p>
            <a:r>
              <a:rPr lang="es-AR" dirty="0"/>
              <a:t>Problemas en la foto</a:t>
            </a:r>
          </a:p>
          <a:p>
            <a:r>
              <a:rPr lang="es-AR" dirty="0"/>
              <a:t>Ruido</a:t>
            </a:r>
          </a:p>
          <a:p>
            <a:r>
              <a:rPr lang="es-AR" dirty="0"/>
              <a:t>Fondo gris o sucio</a:t>
            </a:r>
          </a:p>
          <a:p>
            <a:endParaRPr lang="es-AR" dirty="0"/>
          </a:p>
          <a:p>
            <a:r>
              <a:rPr lang="en-US" b="1" dirty="0" err="1"/>
              <a:t>Ecualizacion</a:t>
            </a:r>
            <a:r>
              <a:rPr lang="en-US" b="1" dirty="0"/>
              <a:t> global del </a:t>
            </a:r>
            <a:r>
              <a:rPr lang="en-US" b="1" dirty="0" err="1"/>
              <a:t>histograma</a:t>
            </a:r>
            <a:endParaRPr lang="en-US" b="1" dirty="0"/>
          </a:p>
          <a:p>
            <a:r>
              <a:rPr lang="en-US" b="1" dirty="0" err="1">
                <a:solidFill>
                  <a:srgbClr val="FF0000"/>
                </a:solidFill>
              </a:rPr>
              <a:t>Muestreo</a:t>
            </a:r>
            <a:r>
              <a:rPr lang="en-US" b="1" dirty="0">
                <a:solidFill>
                  <a:srgbClr val="FF0000"/>
                </a:solidFill>
              </a:rPr>
              <a:t> y </a:t>
            </a:r>
            <a:r>
              <a:rPr lang="en-US" b="1" dirty="0" err="1">
                <a:solidFill>
                  <a:srgbClr val="FF0000"/>
                </a:solidFill>
              </a:rPr>
              <a:t>cuantizacion</a:t>
            </a:r>
            <a:endParaRPr lang="en-US" b="1" dirty="0">
              <a:solidFill>
                <a:srgbClr val="FF0000"/>
              </a:solidFill>
            </a:endParaRPr>
          </a:p>
          <a:p>
            <a:endParaRPr lang="en-US" b="1" dirty="0"/>
          </a:p>
          <a:p>
            <a:r>
              <a:rPr lang="es-ES" b="1" dirty="0">
                <a:solidFill>
                  <a:schemeClr val="accent3"/>
                </a:solidFill>
              </a:rPr>
              <a:t>Suavizado y </a:t>
            </a:r>
            <a:r>
              <a:rPr lang="es-ES" b="1" dirty="0" err="1">
                <a:solidFill>
                  <a:schemeClr val="accent3"/>
                </a:solidFill>
              </a:rPr>
              <a:t>reduccion</a:t>
            </a:r>
            <a:r>
              <a:rPr lang="es-ES" b="1" dirty="0">
                <a:solidFill>
                  <a:schemeClr val="accent3"/>
                </a:solidFill>
              </a:rPr>
              <a:t> de ruido</a:t>
            </a:r>
          </a:p>
          <a:p>
            <a:r>
              <a:rPr lang="en-US" b="1" dirty="0" err="1">
                <a:solidFill>
                  <a:srgbClr val="FF0000"/>
                </a:solidFill>
              </a:rPr>
              <a:t>Umbralizacion</a:t>
            </a:r>
            <a:r>
              <a:rPr lang="en-US" b="1" dirty="0">
                <a:solidFill>
                  <a:srgbClr val="FF0000"/>
                </a:solidFill>
              </a:rPr>
              <a:t> </a:t>
            </a:r>
            <a:r>
              <a:rPr lang="en-US" b="1" dirty="0" err="1">
                <a:solidFill>
                  <a:srgbClr val="FF0000"/>
                </a:solidFill>
              </a:rPr>
              <a:t>adaptativa</a:t>
            </a:r>
            <a:endParaRPr lang="en-US" b="1" dirty="0">
              <a:solidFill>
                <a:srgbClr val="FF0000"/>
              </a:solidFill>
            </a:endParaRPr>
          </a:p>
          <a:p>
            <a:r>
              <a:rPr lang="en-US" b="1" dirty="0" err="1">
                <a:solidFill>
                  <a:srgbClr val="FF0000"/>
                </a:solidFill>
              </a:rPr>
              <a:t>Morfologia</a:t>
            </a:r>
            <a:r>
              <a:rPr lang="en-US" b="1" dirty="0">
                <a:solidFill>
                  <a:srgbClr val="FF0000"/>
                </a:solidFill>
              </a:rPr>
              <a:t> </a:t>
            </a:r>
            <a:r>
              <a:rPr lang="en-US" b="1" dirty="0" err="1">
                <a:solidFill>
                  <a:srgbClr val="FF0000"/>
                </a:solidFill>
              </a:rPr>
              <a:t>matematica</a:t>
            </a:r>
            <a:endParaRPr lang="en-US" b="1" dirty="0">
              <a:solidFill>
                <a:srgbClr val="FF0000"/>
              </a:solidFill>
            </a:endParaRPr>
          </a:p>
          <a:p>
            <a:r>
              <a:rPr lang="en-US" b="1" dirty="0"/>
              <a:t>Inpainting</a:t>
            </a:r>
          </a:p>
          <a:p>
            <a:r>
              <a:rPr lang="es-ES" b="1" dirty="0" err="1"/>
              <a:t>Deteccion</a:t>
            </a:r>
            <a:r>
              <a:rPr lang="es-ES" b="1" dirty="0"/>
              <a:t> de rostros con Haar</a:t>
            </a:r>
          </a:p>
          <a:p>
            <a:endParaRPr lang="en-US" b="1" dirty="0"/>
          </a:p>
          <a:p>
            <a:endParaRPr lang="en-US" b="1" dirty="0"/>
          </a:p>
          <a:p>
            <a:endParaRPr lang="es-ES" b="1" dirty="0"/>
          </a:p>
          <a:p>
            <a:endParaRPr lang="en-US" b="1" dirty="0"/>
          </a:p>
          <a:p>
            <a:endParaRPr lang="en-US" b="1" dirty="0"/>
          </a:p>
          <a:p>
            <a:endParaRPr lang="es-AR" dirty="0"/>
          </a:p>
          <a:p>
            <a:endParaRPr lang="en-US" dirty="0"/>
          </a:p>
        </p:txBody>
      </p:sp>
      <p:sp>
        <p:nvSpPr>
          <p:cNvPr id="4" name="CuadroTexto 3">
            <a:extLst>
              <a:ext uri="{FF2B5EF4-FFF2-40B4-BE49-F238E27FC236}">
                <a16:creationId xmlns:a16="http://schemas.microsoft.com/office/drawing/2014/main" id="{A067D15C-CD07-C473-0195-8FAD6C61FF1A}"/>
              </a:ext>
            </a:extLst>
          </p:cNvPr>
          <p:cNvSpPr txBox="1"/>
          <p:nvPr/>
        </p:nvSpPr>
        <p:spPr>
          <a:xfrm>
            <a:off x="0" y="3617476"/>
            <a:ext cx="12192000" cy="1754326"/>
          </a:xfrm>
          <a:prstGeom prst="rect">
            <a:avLst/>
          </a:prstGeom>
          <a:noFill/>
        </p:spPr>
        <p:txBody>
          <a:bodyPr wrap="square">
            <a:spAutoFit/>
          </a:bodyPr>
          <a:lstStyle/>
          <a:p>
            <a:r>
              <a:rPr lang="es-ES" sz="1200" dirty="0"/>
              <a:t>Ecualización global del histograma: sí se puede probar, pero con cuidado. Puede mejorar contraste, aunque probablemente aumente el ruido/grano.</a:t>
            </a:r>
          </a:p>
          <a:p>
            <a:r>
              <a:rPr lang="es-ES" sz="1200" dirty="0"/>
              <a:t>Muestreo y cuantización: yo la sacaría del pipeline. No ayuda a restaurar ni mejorar esta imagen; es más conceptual.</a:t>
            </a:r>
          </a:p>
          <a:p>
            <a:r>
              <a:rPr lang="es-ES" sz="1200" dirty="0"/>
              <a:t>Suavizado y reducción de ruido: sí, muy pertinente. Puede bajar el grano.</a:t>
            </a:r>
          </a:p>
          <a:p>
            <a:r>
              <a:rPr lang="es-ES" sz="1200" dirty="0" err="1"/>
              <a:t>Umbralización</a:t>
            </a:r>
            <a:r>
              <a:rPr lang="es-ES" sz="1200" dirty="0"/>
              <a:t> adaptativa: depende del objetivo. Si </a:t>
            </a:r>
            <a:r>
              <a:rPr lang="es-ES" sz="1200" dirty="0" err="1"/>
              <a:t>querés</a:t>
            </a:r>
            <a:r>
              <a:rPr lang="es-ES" sz="1200" dirty="0"/>
              <a:t> dejar una imagen final “fotográfica”, no conviene </a:t>
            </a:r>
            <a:r>
              <a:rPr lang="es-ES" sz="1200" dirty="0" err="1"/>
              <a:t>binarizar</a:t>
            </a:r>
            <a:r>
              <a:rPr lang="es-ES" sz="1200" dirty="0"/>
              <a:t> porque </a:t>
            </a:r>
            <a:r>
              <a:rPr lang="es-ES" sz="1200" dirty="0" err="1"/>
              <a:t>perdés</a:t>
            </a:r>
            <a:r>
              <a:rPr lang="es-ES" sz="1200" dirty="0"/>
              <a:t> tonos. Si el objetivo fuera extraer trazos, texto o una máscara, sí. Para una foto con personas, yo no la pondría como técnica principal.</a:t>
            </a:r>
          </a:p>
          <a:p>
            <a:r>
              <a:rPr lang="es-ES" sz="1200" dirty="0"/>
              <a:t>Morfología matemática: igual que antes, solo si </a:t>
            </a:r>
            <a:r>
              <a:rPr lang="es-ES" sz="1200" dirty="0" err="1"/>
              <a:t>generás</a:t>
            </a:r>
            <a:r>
              <a:rPr lang="es-ES" sz="1200" dirty="0"/>
              <a:t> una máscara binaria para limpiar manchas. No como mejora directa de la foto.</a:t>
            </a:r>
          </a:p>
          <a:p>
            <a:r>
              <a:rPr lang="es-ES" sz="1200" dirty="0" err="1"/>
              <a:t>Inpainting</a:t>
            </a:r>
            <a:r>
              <a:rPr lang="es-ES" sz="1200" dirty="0"/>
              <a:t>: sí podría servir, pero solo para rayas/manchitas puntuales si </a:t>
            </a:r>
            <a:r>
              <a:rPr lang="es-ES" sz="1200" dirty="0" err="1"/>
              <a:t>hacés</a:t>
            </a:r>
            <a:r>
              <a:rPr lang="es-ES" sz="1200" dirty="0"/>
              <a:t> una máscara de daño. Es defendible si </a:t>
            </a:r>
            <a:r>
              <a:rPr lang="es-ES" sz="1200" dirty="0" err="1"/>
              <a:t>mostrás</a:t>
            </a:r>
            <a:r>
              <a:rPr lang="es-ES" sz="1200" dirty="0"/>
              <a:t> bien qué zona </a:t>
            </a:r>
            <a:r>
              <a:rPr lang="es-ES" sz="1200" dirty="0" err="1"/>
              <a:t>querés</a:t>
            </a:r>
            <a:r>
              <a:rPr lang="es-ES" sz="1200" dirty="0"/>
              <a:t> reparar.</a:t>
            </a:r>
          </a:p>
          <a:p>
            <a:r>
              <a:rPr lang="es-ES" sz="1200" dirty="0"/>
              <a:t>Detección de rostros con Haar: como análisis extra puede funcionar mejor que en las fotos anteriores, pero no la usaría como parte del pipeline de restauración. Podría servir para demostrar que la mejora conserva rostros detectables, pero no es necesaria.</a:t>
            </a:r>
            <a:endParaRPr lang="en-US" sz="1200" dirty="0"/>
          </a:p>
        </p:txBody>
      </p:sp>
    </p:spTree>
    <p:extLst>
      <p:ext uri="{BB962C8B-B14F-4D97-AF65-F5344CB8AC3E}">
        <p14:creationId xmlns:p14="http://schemas.microsoft.com/office/powerpoint/2010/main" val="25080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DBF9-F610-1D52-441A-F022AB97155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4E480C1-E15A-BCAE-F689-5EE1F75498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65694" cy="3424271"/>
          </a:xfrm>
          <a:prstGeom prst="rect">
            <a:avLst/>
          </a:prstGeom>
        </p:spPr>
      </p:pic>
      <p:sp>
        <p:nvSpPr>
          <p:cNvPr id="2" name="CuadroTexto 1">
            <a:extLst>
              <a:ext uri="{FF2B5EF4-FFF2-40B4-BE49-F238E27FC236}">
                <a16:creationId xmlns:a16="http://schemas.microsoft.com/office/drawing/2014/main" id="{4DC06063-C323-DCC4-862D-46310F7D8526}"/>
              </a:ext>
            </a:extLst>
          </p:cNvPr>
          <p:cNvSpPr txBox="1"/>
          <p:nvPr/>
        </p:nvSpPr>
        <p:spPr>
          <a:xfrm>
            <a:off x="7274452" y="174287"/>
            <a:ext cx="3828420" cy="5355312"/>
          </a:xfrm>
          <a:prstGeom prst="rect">
            <a:avLst/>
          </a:prstGeom>
          <a:noFill/>
        </p:spPr>
        <p:txBody>
          <a:bodyPr wrap="none" rtlCol="0">
            <a:spAutoFit/>
          </a:bodyPr>
          <a:lstStyle/>
          <a:p>
            <a:r>
              <a:rPr lang="es-AR" dirty="0"/>
              <a:t>Problemas en la foto</a:t>
            </a:r>
          </a:p>
          <a:p>
            <a:r>
              <a:rPr lang="es-AR" dirty="0"/>
              <a:t>Ruido</a:t>
            </a:r>
          </a:p>
          <a:p>
            <a:r>
              <a:rPr lang="es-AR" dirty="0"/>
              <a:t>Fondo gris o sucio</a:t>
            </a:r>
          </a:p>
          <a:p>
            <a:endParaRPr lang="es-AR" dirty="0"/>
          </a:p>
          <a:p>
            <a:r>
              <a:rPr lang="en-US" b="1" dirty="0" err="1"/>
              <a:t>Ecualizacion</a:t>
            </a:r>
            <a:r>
              <a:rPr lang="en-US" b="1" dirty="0"/>
              <a:t> global del </a:t>
            </a:r>
            <a:r>
              <a:rPr lang="en-US" b="1" dirty="0" err="1"/>
              <a:t>histograma</a:t>
            </a:r>
            <a:endParaRPr lang="en-US" b="1" dirty="0"/>
          </a:p>
          <a:p>
            <a:r>
              <a:rPr lang="en-US" b="1" dirty="0" err="1">
                <a:solidFill>
                  <a:srgbClr val="FF0000"/>
                </a:solidFill>
              </a:rPr>
              <a:t>Muestreo</a:t>
            </a:r>
            <a:r>
              <a:rPr lang="en-US" b="1" dirty="0">
                <a:solidFill>
                  <a:srgbClr val="FF0000"/>
                </a:solidFill>
              </a:rPr>
              <a:t> y </a:t>
            </a:r>
            <a:r>
              <a:rPr lang="en-US" b="1" dirty="0" err="1">
                <a:solidFill>
                  <a:srgbClr val="FF0000"/>
                </a:solidFill>
              </a:rPr>
              <a:t>cuantizacion</a:t>
            </a:r>
            <a:endParaRPr lang="en-US" b="1" dirty="0">
              <a:solidFill>
                <a:srgbClr val="FF0000"/>
              </a:solidFill>
            </a:endParaRPr>
          </a:p>
          <a:p>
            <a:endParaRPr lang="en-US" b="1" dirty="0"/>
          </a:p>
          <a:p>
            <a:r>
              <a:rPr lang="es-ES" b="1" dirty="0">
                <a:solidFill>
                  <a:schemeClr val="accent3"/>
                </a:solidFill>
              </a:rPr>
              <a:t>Suavizado y </a:t>
            </a:r>
            <a:r>
              <a:rPr lang="es-ES" b="1" dirty="0" err="1">
                <a:solidFill>
                  <a:schemeClr val="accent3"/>
                </a:solidFill>
              </a:rPr>
              <a:t>reduccion</a:t>
            </a:r>
            <a:r>
              <a:rPr lang="es-ES" b="1" dirty="0">
                <a:solidFill>
                  <a:schemeClr val="accent3"/>
                </a:solidFill>
              </a:rPr>
              <a:t> de ruido</a:t>
            </a:r>
          </a:p>
          <a:p>
            <a:r>
              <a:rPr lang="en-US" b="1" dirty="0" err="1">
                <a:solidFill>
                  <a:srgbClr val="FF0000"/>
                </a:solidFill>
              </a:rPr>
              <a:t>Umbralizacion</a:t>
            </a:r>
            <a:r>
              <a:rPr lang="en-US" b="1" dirty="0">
                <a:solidFill>
                  <a:srgbClr val="FF0000"/>
                </a:solidFill>
              </a:rPr>
              <a:t> </a:t>
            </a:r>
            <a:r>
              <a:rPr lang="en-US" b="1" dirty="0" err="1">
                <a:solidFill>
                  <a:srgbClr val="FF0000"/>
                </a:solidFill>
              </a:rPr>
              <a:t>adaptativa</a:t>
            </a:r>
            <a:endParaRPr lang="en-US" b="1" dirty="0">
              <a:solidFill>
                <a:srgbClr val="FF0000"/>
              </a:solidFill>
            </a:endParaRPr>
          </a:p>
          <a:p>
            <a:r>
              <a:rPr lang="en-US" b="1" dirty="0" err="1">
                <a:solidFill>
                  <a:srgbClr val="FF0000"/>
                </a:solidFill>
              </a:rPr>
              <a:t>Morfologia</a:t>
            </a:r>
            <a:r>
              <a:rPr lang="en-US" b="1" dirty="0">
                <a:solidFill>
                  <a:srgbClr val="FF0000"/>
                </a:solidFill>
              </a:rPr>
              <a:t> </a:t>
            </a:r>
            <a:r>
              <a:rPr lang="en-US" b="1" dirty="0" err="1">
                <a:solidFill>
                  <a:srgbClr val="FF0000"/>
                </a:solidFill>
              </a:rPr>
              <a:t>matematica</a:t>
            </a:r>
            <a:endParaRPr lang="en-US" b="1" dirty="0">
              <a:solidFill>
                <a:srgbClr val="FF0000"/>
              </a:solidFill>
            </a:endParaRPr>
          </a:p>
          <a:p>
            <a:r>
              <a:rPr lang="en-US" b="1" dirty="0"/>
              <a:t>Inpainting</a:t>
            </a:r>
          </a:p>
          <a:p>
            <a:r>
              <a:rPr lang="es-ES" b="1" dirty="0" err="1"/>
              <a:t>Deteccion</a:t>
            </a:r>
            <a:r>
              <a:rPr lang="es-ES" b="1" dirty="0"/>
              <a:t> de rostros con Haar</a:t>
            </a:r>
          </a:p>
          <a:p>
            <a:endParaRPr lang="en-US" b="1" dirty="0"/>
          </a:p>
          <a:p>
            <a:endParaRPr lang="en-US" b="1" dirty="0"/>
          </a:p>
          <a:p>
            <a:endParaRPr lang="es-ES" b="1" dirty="0"/>
          </a:p>
          <a:p>
            <a:endParaRPr lang="en-US" b="1" dirty="0"/>
          </a:p>
          <a:p>
            <a:endParaRPr lang="en-US" b="1" dirty="0"/>
          </a:p>
          <a:p>
            <a:endParaRPr lang="es-AR" dirty="0"/>
          </a:p>
          <a:p>
            <a:endParaRPr lang="en-US" dirty="0"/>
          </a:p>
        </p:txBody>
      </p:sp>
      <p:sp>
        <p:nvSpPr>
          <p:cNvPr id="5" name="CuadroTexto 4">
            <a:extLst>
              <a:ext uri="{FF2B5EF4-FFF2-40B4-BE49-F238E27FC236}">
                <a16:creationId xmlns:a16="http://schemas.microsoft.com/office/drawing/2014/main" id="{57F74883-3088-50B8-3E9D-B774035F9F38}"/>
              </a:ext>
            </a:extLst>
          </p:cNvPr>
          <p:cNvSpPr txBox="1"/>
          <p:nvPr/>
        </p:nvSpPr>
        <p:spPr>
          <a:xfrm>
            <a:off x="-50450" y="3488558"/>
            <a:ext cx="12114748" cy="3416320"/>
          </a:xfrm>
          <a:prstGeom prst="rect">
            <a:avLst/>
          </a:prstGeom>
          <a:noFill/>
        </p:spPr>
        <p:txBody>
          <a:bodyPr wrap="square">
            <a:spAutoFit/>
          </a:bodyPr>
          <a:lstStyle/>
          <a:p>
            <a:r>
              <a:rPr lang="es-ES" sz="1200" dirty="0"/>
              <a:t>Estrategia 1: mejora tonal simple</a:t>
            </a:r>
          </a:p>
          <a:p>
            <a:r>
              <a:rPr lang="es-ES" sz="1200" dirty="0"/>
              <a:t>Suavizado leve o mediana.</a:t>
            </a:r>
          </a:p>
          <a:p>
            <a:r>
              <a:rPr lang="es-ES" sz="1200" dirty="0"/>
              <a:t>Ecualización global del histograma.</a:t>
            </a:r>
          </a:p>
          <a:p>
            <a:r>
              <a:rPr lang="es-ES" sz="1200" dirty="0"/>
              <a:t>Ajuste final de brillo/contraste si hace falta.</a:t>
            </a:r>
          </a:p>
          <a:p>
            <a:r>
              <a:rPr lang="es-ES" sz="1200" dirty="0"/>
              <a:t>Ventaja: pipeline corto, claro y fácil de explicar.</a:t>
            </a:r>
          </a:p>
          <a:p>
            <a:r>
              <a:rPr lang="es-ES" sz="1200" dirty="0"/>
              <a:t>Límite: puede amplificar ruido y endurecer demasiado la piel.</a:t>
            </a:r>
          </a:p>
          <a:p>
            <a:endParaRPr lang="es-ES" sz="1200" dirty="0"/>
          </a:p>
          <a:p>
            <a:r>
              <a:rPr lang="es-ES" sz="1200" dirty="0"/>
              <a:t>Estrategia 2: mejora más controlada</a:t>
            </a:r>
          </a:p>
          <a:p>
            <a:r>
              <a:rPr lang="es-ES" sz="1200" dirty="0"/>
              <a:t>Suavizado leve, por ejemplo </a:t>
            </a:r>
            <a:r>
              <a:rPr lang="es-ES" sz="1200" dirty="0" err="1"/>
              <a:t>medianBlur</a:t>
            </a:r>
            <a:r>
              <a:rPr lang="es-ES" sz="1200" dirty="0"/>
              <a:t> o </a:t>
            </a:r>
            <a:r>
              <a:rPr lang="es-ES" sz="1200" dirty="0" err="1"/>
              <a:t>GaussianBlur</a:t>
            </a:r>
            <a:r>
              <a:rPr lang="es-ES" sz="1200" dirty="0"/>
              <a:t>.</a:t>
            </a:r>
          </a:p>
          <a:p>
            <a:r>
              <a:rPr lang="es-ES" sz="1200" dirty="0" err="1"/>
              <a:t>CLAHE</a:t>
            </a:r>
            <a:r>
              <a:rPr lang="es-ES" sz="1200" dirty="0"/>
              <a:t> en escala de grises.</a:t>
            </a:r>
          </a:p>
          <a:p>
            <a:r>
              <a:rPr lang="es-ES" sz="1200" dirty="0" err="1"/>
              <a:t>Inpainting</a:t>
            </a:r>
            <a:r>
              <a:rPr lang="es-ES" sz="1200" dirty="0"/>
              <a:t> puntual de rayas/manchas, si construís una máscara simple.</a:t>
            </a:r>
          </a:p>
          <a:p>
            <a:r>
              <a:rPr lang="es-ES" sz="1200" dirty="0"/>
              <a:t>Ventaja: mejora contraste local sin destruir tanto toda la imagen.</a:t>
            </a:r>
          </a:p>
          <a:p>
            <a:r>
              <a:rPr lang="es-ES" sz="1200" dirty="0"/>
              <a:t>Límite: requiere justificar parámetros y no elimina todo el grano.</a:t>
            </a:r>
          </a:p>
          <a:p>
            <a:endParaRPr lang="es-ES" sz="1200" dirty="0"/>
          </a:p>
          <a:p>
            <a:r>
              <a:rPr lang="es-ES" sz="1200" dirty="0"/>
              <a:t>Mi recomendación: para este caso elegiría suavizado leve + </a:t>
            </a:r>
            <a:r>
              <a:rPr lang="es-ES" sz="1200" dirty="0" err="1"/>
              <a:t>CLAHE</a:t>
            </a:r>
            <a:r>
              <a:rPr lang="es-ES" sz="1200" dirty="0"/>
              <a:t>, y dejaría </a:t>
            </a:r>
            <a:r>
              <a:rPr lang="es-ES" sz="1200" dirty="0" err="1"/>
              <a:t>inpainting</a:t>
            </a:r>
            <a:r>
              <a:rPr lang="es-ES" sz="1200" dirty="0"/>
              <a:t> como reparación puntual si hay rayas o manchas evidentes que quieras tratar.</a:t>
            </a:r>
          </a:p>
          <a:p>
            <a:endParaRPr lang="es-ES" sz="1200" dirty="0"/>
          </a:p>
          <a:p>
            <a:r>
              <a:rPr lang="es-ES" sz="1200" dirty="0"/>
              <a:t>No elegiría </a:t>
            </a:r>
            <a:r>
              <a:rPr lang="es-ES" sz="1200" dirty="0" err="1"/>
              <a:t>umbralización</a:t>
            </a:r>
            <a:r>
              <a:rPr lang="es-ES" sz="1200" dirty="0"/>
              <a:t> adaptativa como salida final porque convertiría la foto en blanco y negro puro, perdiendo mucha información tonal de los rostros. En este caso, “blanco/negro” significa imagen en escala de grises, no necesariamente imagen binaria.</a:t>
            </a:r>
            <a:endParaRPr lang="en-US" sz="1200" dirty="0"/>
          </a:p>
        </p:txBody>
      </p:sp>
    </p:spTree>
    <p:extLst>
      <p:ext uri="{BB962C8B-B14F-4D97-AF65-F5344CB8AC3E}">
        <p14:creationId xmlns:p14="http://schemas.microsoft.com/office/powerpoint/2010/main" val="2225127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4D85-5C8A-8499-B3F5-130A918CC14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5296252-42F8-E94E-0135-AB64E12C24BC}"/>
              </a:ext>
            </a:extLst>
          </p:cNvPr>
          <p:cNvPicPr>
            <a:picLocks noChangeAspect="1"/>
          </p:cNvPicPr>
          <p:nvPr/>
        </p:nvPicPr>
        <p:blipFill>
          <a:blip r:embed="rId2"/>
          <a:stretch>
            <a:fillRect/>
          </a:stretch>
        </p:blipFill>
        <p:spPr>
          <a:xfrm>
            <a:off x="0" y="0"/>
            <a:ext cx="5791200" cy="4343400"/>
          </a:xfrm>
          <a:prstGeom prst="rect">
            <a:avLst/>
          </a:prstGeom>
        </p:spPr>
      </p:pic>
      <p:sp>
        <p:nvSpPr>
          <p:cNvPr id="8" name="CuadroTexto 7">
            <a:extLst>
              <a:ext uri="{FF2B5EF4-FFF2-40B4-BE49-F238E27FC236}">
                <a16:creationId xmlns:a16="http://schemas.microsoft.com/office/drawing/2014/main" id="{3D83AF6D-3D32-9201-013B-EAD994DCBFB6}"/>
              </a:ext>
            </a:extLst>
          </p:cNvPr>
          <p:cNvSpPr txBox="1"/>
          <p:nvPr/>
        </p:nvSpPr>
        <p:spPr>
          <a:xfrm>
            <a:off x="5962093" y="3596624"/>
            <a:ext cx="6097248" cy="2387833"/>
          </a:xfrm>
          <a:prstGeom prst="rect">
            <a:avLst/>
          </a:prstGeom>
          <a:noFill/>
        </p:spPr>
        <p:txBody>
          <a:bodyPr wrap="square">
            <a:spAutoFit/>
          </a:bodyPr>
          <a:lstStyle/>
          <a:p>
            <a:pPr algn="l">
              <a:buNone/>
            </a:pPr>
            <a:r>
              <a:rPr lang="es-ES" sz="1200" b="0" i="0" dirty="0">
                <a:effectLst/>
                <a:latin typeface="Segoe WPC"/>
              </a:rPr>
              <a:t>es la más equilibrada para mostrar mejora real y defendible. Tiene problemas visibles:</a:t>
            </a:r>
          </a:p>
          <a:p>
            <a:pPr algn="l">
              <a:spcAft>
                <a:spcPts val="450"/>
              </a:spcAft>
              <a:buFont typeface="Arial" panose="020B0604020202020204" pitchFamily="34" charset="0"/>
              <a:buChar char="•"/>
            </a:pPr>
            <a:r>
              <a:rPr lang="es-ES" sz="1200" b="0" i="0" dirty="0">
                <a:effectLst/>
                <a:latin typeface="Segoe WPC"/>
              </a:rPr>
              <a:t>bajo contraste;</a:t>
            </a:r>
          </a:p>
          <a:p>
            <a:pPr algn="l">
              <a:spcAft>
                <a:spcPts val="450"/>
              </a:spcAft>
              <a:buFont typeface="Arial" panose="020B0604020202020204" pitchFamily="34" charset="0"/>
              <a:buChar char="•"/>
            </a:pPr>
            <a:r>
              <a:rPr lang="es-ES" sz="1200" b="0" i="0" dirty="0">
                <a:effectLst/>
                <a:latin typeface="Segoe WPC"/>
              </a:rPr>
              <a:t>imagen algo lavada;</a:t>
            </a:r>
          </a:p>
          <a:p>
            <a:pPr algn="l">
              <a:spcAft>
                <a:spcPts val="450"/>
              </a:spcAft>
              <a:buFont typeface="Arial" panose="020B0604020202020204" pitchFamily="34" charset="0"/>
              <a:buChar char="•"/>
            </a:pPr>
            <a:r>
              <a:rPr lang="es-ES" sz="1200" b="0" i="0" dirty="0">
                <a:effectLst/>
                <a:latin typeface="Segoe WPC"/>
              </a:rPr>
              <a:t>manchas y rayas;</a:t>
            </a:r>
          </a:p>
          <a:p>
            <a:pPr algn="l">
              <a:spcAft>
                <a:spcPts val="450"/>
              </a:spcAft>
              <a:buFont typeface="Arial" panose="020B0604020202020204" pitchFamily="34" charset="0"/>
              <a:buChar char="•"/>
            </a:pPr>
            <a:r>
              <a:rPr lang="es-ES" sz="1200" b="0" i="0" dirty="0">
                <a:effectLst/>
                <a:latin typeface="Segoe WPC"/>
              </a:rPr>
              <a:t>desgaste del soporte;</a:t>
            </a:r>
          </a:p>
          <a:p>
            <a:pPr algn="l">
              <a:spcAft>
                <a:spcPts val="450"/>
              </a:spcAft>
              <a:buFont typeface="Arial" panose="020B0604020202020204" pitchFamily="34" charset="0"/>
              <a:buChar char="•"/>
            </a:pPr>
            <a:r>
              <a:rPr lang="es-ES" sz="1200" b="0" i="0" dirty="0">
                <a:effectLst/>
                <a:latin typeface="Segoe WPC"/>
              </a:rPr>
              <a:t>zonas claras quemadas o muy planas;</a:t>
            </a:r>
          </a:p>
          <a:p>
            <a:pPr algn="l">
              <a:spcAft>
                <a:spcPts val="450"/>
              </a:spcAft>
              <a:buFont typeface="Arial" panose="020B0604020202020204" pitchFamily="34" charset="0"/>
              <a:buChar char="•"/>
            </a:pPr>
            <a:r>
              <a:rPr lang="es-ES" sz="1200" b="0" i="0" dirty="0">
                <a:effectLst/>
                <a:latin typeface="Segoe WPC"/>
              </a:rPr>
              <a:t>detalles faciales todavía recuperables.</a:t>
            </a:r>
          </a:p>
          <a:p>
            <a:pPr algn="l">
              <a:buNone/>
            </a:pPr>
            <a:r>
              <a:rPr lang="es-ES" sz="1200" b="0" i="0" dirty="0">
                <a:effectLst/>
                <a:latin typeface="Segoe WPC"/>
              </a:rPr>
              <a:t>Te permite probar dos estrategias claras:</a:t>
            </a:r>
          </a:p>
          <a:p>
            <a:pPr algn="l">
              <a:spcAft>
                <a:spcPts val="450"/>
              </a:spcAft>
              <a:buFont typeface="Arial" panose="020B0604020202020204" pitchFamily="34" charset="0"/>
              <a:buChar char="•"/>
            </a:pPr>
            <a:r>
              <a:rPr lang="es-ES" sz="1200" b="0" i="0" dirty="0">
                <a:effectLst/>
                <a:latin typeface="Consolas" panose="020B0609020204030204" pitchFamily="49" charset="0"/>
              </a:rPr>
              <a:t>suavizado leve -&gt; </a:t>
            </a:r>
            <a:r>
              <a:rPr lang="es-ES" sz="1200" b="0" i="0" dirty="0" err="1">
                <a:effectLst/>
                <a:latin typeface="Consolas" panose="020B0609020204030204" pitchFamily="49" charset="0"/>
              </a:rPr>
              <a:t>CLAHE</a:t>
            </a:r>
            <a:r>
              <a:rPr lang="es-ES" sz="1200" b="0" i="0" dirty="0">
                <a:effectLst/>
                <a:latin typeface="Consolas" panose="020B0609020204030204" pitchFamily="49" charset="0"/>
              </a:rPr>
              <a:t>/ecualización -&gt; ajuste de contraste</a:t>
            </a:r>
            <a:r>
              <a:rPr lang="es-ES" sz="1200" b="0" i="0" dirty="0">
                <a:effectLst/>
                <a:latin typeface="Segoe WPC"/>
              </a:rPr>
              <a:t>;</a:t>
            </a:r>
          </a:p>
          <a:p>
            <a:pPr algn="l">
              <a:spcAft>
                <a:spcPts val="450"/>
              </a:spcAft>
              <a:buFont typeface="Arial" panose="020B0604020202020204" pitchFamily="34" charset="0"/>
              <a:buChar char="•"/>
            </a:pPr>
            <a:r>
              <a:rPr lang="es-ES" sz="1200" b="0" i="0" dirty="0">
                <a:effectLst/>
                <a:latin typeface="Consolas" panose="020B0609020204030204" pitchFamily="49" charset="0"/>
              </a:rPr>
              <a:t>máscara de daños -&gt; </a:t>
            </a:r>
            <a:r>
              <a:rPr lang="es-ES" sz="1200" b="0" i="0" dirty="0" err="1">
                <a:effectLst/>
                <a:latin typeface="Consolas" panose="020B0609020204030204" pitchFamily="49" charset="0"/>
              </a:rPr>
              <a:t>inpainting</a:t>
            </a:r>
            <a:r>
              <a:rPr lang="es-ES" sz="1200" b="0" i="0" dirty="0">
                <a:effectLst/>
                <a:latin typeface="Consolas" panose="020B0609020204030204" pitchFamily="49" charset="0"/>
              </a:rPr>
              <a:t> puntual -&gt; mejora tonal</a:t>
            </a:r>
            <a:r>
              <a:rPr lang="es-ES" sz="1200" b="0" i="0" dirty="0">
                <a:effectLst/>
                <a:latin typeface="Segoe WPC"/>
              </a:rPr>
              <a:t>.</a:t>
            </a:r>
          </a:p>
        </p:txBody>
      </p:sp>
    </p:spTree>
    <p:extLst>
      <p:ext uri="{BB962C8B-B14F-4D97-AF65-F5344CB8AC3E}">
        <p14:creationId xmlns:p14="http://schemas.microsoft.com/office/powerpoint/2010/main" val="4225723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1F397-1BF8-9316-9885-218493533FE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BE4647D3-65AF-01E0-CFEC-7EAA6810749D}"/>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75391040-8C53-50CC-6AF2-925A07E2C5A2}"/>
              </a:ext>
            </a:extLst>
          </p:cNvPr>
          <p:cNvPicPr>
            <a:picLocks noChangeAspect="1"/>
          </p:cNvPicPr>
          <p:nvPr/>
        </p:nvPicPr>
        <p:blipFill>
          <a:blip r:embed="rId2"/>
          <a:stretch>
            <a:fillRect/>
          </a:stretch>
        </p:blipFill>
        <p:spPr>
          <a:xfrm>
            <a:off x="0" y="0"/>
            <a:ext cx="5791200" cy="4343400"/>
          </a:xfrm>
          <a:prstGeom prst="rect">
            <a:avLst/>
          </a:prstGeom>
        </p:spPr>
      </p:pic>
      <p:sp>
        <p:nvSpPr>
          <p:cNvPr id="3" name="CuadroTexto 2">
            <a:extLst>
              <a:ext uri="{FF2B5EF4-FFF2-40B4-BE49-F238E27FC236}">
                <a16:creationId xmlns:a16="http://schemas.microsoft.com/office/drawing/2014/main" id="{66E2058C-D922-79EE-B149-6F544F3910E4}"/>
              </a:ext>
            </a:extLst>
          </p:cNvPr>
          <p:cNvSpPr txBox="1"/>
          <p:nvPr/>
        </p:nvSpPr>
        <p:spPr>
          <a:xfrm>
            <a:off x="6096000" y="2772092"/>
            <a:ext cx="6094948" cy="3600986"/>
          </a:xfrm>
          <a:prstGeom prst="rect">
            <a:avLst/>
          </a:prstGeom>
          <a:noFill/>
        </p:spPr>
        <p:txBody>
          <a:bodyPr wrap="square">
            <a:spAutoFit/>
          </a:bodyPr>
          <a:lstStyle/>
          <a:p>
            <a:r>
              <a:rPr lang="es-ES" sz="1200" dirty="0"/>
              <a:t>Caso: medio gráfico blanco/negro.</a:t>
            </a:r>
          </a:p>
          <a:p>
            <a:endParaRPr lang="es-ES" sz="1200" dirty="0"/>
          </a:p>
          <a:p>
            <a:r>
              <a:rPr lang="es-ES" sz="1200" dirty="0"/>
              <a:t>Problemas principales:</a:t>
            </a:r>
          </a:p>
          <a:p>
            <a:endParaRPr lang="es-ES" sz="1200" dirty="0"/>
          </a:p>
          <a:p>
            <a:r>
              <a:rPr lang="es-ES" sz="1200" dirty="0"/>
              <a:t>bajo contraste, imagen lavada, manchas, rayas y suciedad, zonas claras con poca textura;</a:t>
            </a:r>
          </a:p>
          <a:p>
            <a:r>
              <a:rPr lang="es-ES" sz="1200" dirty="0"/>
              <a:t>desgaste del soporte.</a:t>
            </a:r>
          </a:p>
          <a:p>
            <a:r>
              <a:rPr lang="es-ES" sz="1200" dirty="0"/>
              <a:t>Pipeline recomendable:</a:t>
            </a:r>
          </a:p>
          <a:p>
            <a:endParaRPr lang="es-ES" sz="1200" dirty="0"/>
          </a:p>
          <a:p>
            <a:r>
              <a:rPr lang="es-ES" sz="1200" dirty="0"/>
              <a:t>Trabajar en escala de grises.</a:t>
            </a:r>
          </a:p>
          <a:p>
            <a:r>
              <a:rPr lang="es-ES" sz="1200" dirty="0"/>
              <a:t>Suavizado leve para reducir ruido, ecualización global.</a:t>
            </a:r>
          </a:p>
          <a:p>
            <a:endParaRPr lang="es-ES" sz="1200" dirty="0"/>
          </a:p>
          <a:p>
            <a:r>
              <a:rPr lang="es-ES" sz="1200" dirty="0" err="1"/>
              <a:t>CLAHE</a:t>
            </a:r>
            <a:r>
              <a:rPr lang="es-ES" sz="1200" dirty="0"/>
              <a:t> o ecualización global.</a:t>
            </a:r>
          </a:p>
          <a:p>
            <a:r>
              <a:rPr lang="es-ES" sz="1200" dirty="0" err="1"/>
              <a:t>Inpainting</a:t>
            </a:r>
            <a:r>
              <a:rPr lang="es-ES" sz="1200" dirty="0"/>
              <a:t> puntual para rayas/manchas visibles, si construís una máscara sencilla.</a:t>
            </a:r>
          </a:p>
          <a:p>
            <a:r>
              <a:rPr lang="es-ES" sz="1200" dirty="0"/>
              <a:t>Comparación posible:</a:t>
            </a:r>
          </a:p>
          <a:p>
            <a:endParaRPr lang="es-ES" sz="1200" dirty="0"/>
          </a:p>
          <a:p>
            <a:r>
              <a:rPr lang="es-ES" sz="1200" dirty="0"/>
              <a:t>Estrategia A: gris -&gt; suavizado -&gt; ecualización global.</a:t>
            </a:r>
          </a:p>
          <a:p>
            <a:r>
              <a:rPr lang="es-ES" sz="1200" dirty="0"/>
              <a:t>Estrategia B: gris -&gt; </a:t>
            </a:r>
            <a:r>
              <a:rPr lang="es-ES" sz="1200" dirty="0" err="1"/>
              <a:t>CLAHE</a:t>
            </a:r>
            <a:r>
              <a:rPr lang="es-ES" sz="1200" dirty="0"/>
              <a:t> -&gt; máscara de daños -&gt; </a:t>
            </a:r>
            <a:r>
              <a:rPr lang="es-ES" sz="1200" dirty="0" err="1"/>
              <a:t>inpainting</a:t>
            </a:r>
            <a:r>
              <a:rPr lang="es-ES" sz="1200" dirty="0"/>
              <a:t> puntual.</a:t>
            </a:r>
          </a:p>
          <a:p>
            <a:r>
              <a:rPr lang="es-ES" sz="1200" dirty="0"/>
              <a:t>Acá no usaría </a:t>
            </a:r>
            <a:r>
              <a:rPr lang="es-ES" sz="1200" dirty="0" err="1"/>
              <a:t>umbralización</a:t>
            </a:r>
            <a:r>
              <a:rPr lang="es-ES" sz="1200" dirty="0"/>
              <a:t> adaptativa como resultado final, porque perderías los tonos de la foto. Puede servir solo para ayudar a crear máscaras de daño.</a:t>
            </a:r>
            <a:endParaRPr lang="en-US" sz="1200" dirty="0"/>
          </a:p>
        </p:txBody>
      </p:sp>
    </p:spTree>
    <p:extLst>
      <p:ext uri="{BB962C8B-B14F-4D97-AF65-F5344CB8AC3E}">
        <p14:creationId xmlns:p14="http://schemas.microsoft.com/office/powerpoint/2010/main" val="483620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79D8-C794-A0AE-4EFB-DCB613C9A76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234D7F9-2326-B18D-7F59-3F98EF975DAE}"/>
              </a:ext>
            </a:extLst>
          </p:cNvPr>
          <p:cNvSpPr txBox="1"/>
          <p:nvPr/>
        </p:nvSpPr>
        <p:spPr>
          <a:xfrm>
            <a:off x="5923105" y="3764917"/>
            <a:ext cx="6094948" cy="2585323"/>
          </a:xfrm>
          <a:prstGeom prst="rect">
            <a:avLst/>
          </a:prstGeom>
          <a:noFill/>
        </p:spPr>
        <p:txBody>
          <a:bodyPr wrap="square">
            <a:spAutoFit/>
          </a:bodyPr>
          <a:lstStyle/>
          <a:p>
            <a:r>
              <a:rPr lang="es-ES" dirty="0"/>
              <a:t>Es la más impactante visualmente, pero también la más riesgosa. Tiene manchas fuertes, rayas, dominante de color y daño sobre el rostro. Sirve muy bien para hablar de restauración, pero el límite es importante: si </a:t>
            </a:r>
            <a:r>
              <a:rPr lang="es-ES" dirty="0" err="1"/>
              <a:t>intentás</a:t>
            </a:r>
            <a:r>
              <a:rPr lang="es-ES" dirty="0"/>
              <a:t> reparar demasiado el rostro con </a:t>
            </a:r>
            <a:r>
              <a:rPr lang="es-ES" dirty="0" err="1"/>
              <a:t>inpainting</a:t>
            </a:r>
            <a:r>
              <a:rPr lang="es-ES" dirty="0"/>
              <a:t>, puede quedar artificial.</a:t>
            </a:r>
          </a:p>
          <a:p>
            <a:endParaRPr lang="es-ES" dirty="0"/>
          </a:p>
          <a:p>
            <a:r>
              <a:rPr lang="es-ES" dirty="0"/>
              <a:t>La usaría si </a:t>
            </a:r>
            <a:r>
              <a:rPr lang="es-ES" dirty="0" err="1"/>
              <a:t>querés</a:t>
            </a:r>
            <a:r>
              <a:rPr lang="es-ES" dirty="0"/>
              <a:t> un caso más desafiante de medio gráfico color deteriorado.</a:t>
            </a:r>
            <a:endParaRPr lang="en-US" dirty="0"/>
          </a:p>
        </p:txBody>
      </p:sp>
      <p:pic>
        <p:nvPicPr>
          <p:cNvPr id="6" name="Imagen 5">
            <a:extLst>
              <a:ext uri="{FF2B5EF4-FFF2-40B4-BE49-F238E27FC236}">
                <a16:creationId xmlns:a16="http://schemas.microsoft.com/office/drawing/2014/main" id="{C13C145D-A0FD-8390-B40E-8B1D7A0AB581}"/>
              </a:ext>
            </a:extLst>
          </p:cNvPr>
          <p:cNvPicPr>
            <a:picLocks noChangeAspect="1"/>
          </p:cNvPicPr>
          <p:nvPr/>
        </p:nvPicPr>
        <p:blipFill>
          <a:blip r:embed="rId2"/>
          <a:stretch>
            <a:fillRect/>
          </a:stretch>
        </p:blipFill>
        <p:spPr>
          <a:xfrm>
            <a:off x="96087" y="77983"/>
            <a:ext cx="5400797" cy="6030199"/>
          </a:xfrm>
          <a:prstGeom prst="rect">
            <a:avLst/>
          </a:prstGeom>
        </p:spPr>
      </p:pic>
    </p:spTree>
    <p:extLst>
      <p:ext uri="{BB962C8B-B14F-4D97-AF65-F5344CB8AC3E}">
        <p14:creationId xmlns:p14="http://schemas.microsoft.com/office/powerpoint/2010/main" val="32411625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597</TotalTime>
  <Words>2178</Words>
  <Application>Microsoft Office PowerPoint</Application>
  <PresentationFormat>Panorámica</PresentationFormat>
  <Paragraphs>286</Paragraphs>
  <Slides>13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Aptos</vt:lpstr>
      <vt:lpstr>Aptos Display</vt:lpstr>
      <vt:lpstr>Arial</vt:lpstr>
      <vt:lpstr>Consolas</vt:lpstr>
      <vt:lpstr>Segoe WPC</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Carmen Rodriguez</dc:creator>
  <cp:lastModifiedBy>Carmen Rodriguez</cp:lastModifiedBy>
  <cp:revision>8</cp:revision>
  <dcterms:created xsi:type="dcterms:W3CDTF">2026-04-26T00:33:31Z</dcterms:created>
  <dcterms:modified xsi:type="dcterms:W3CDTF">2026-04-26T21:01:37Z</dcterms:modified>
</cp:coreProperties>
</file>